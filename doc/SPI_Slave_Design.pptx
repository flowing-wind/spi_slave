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47.jpg" ContentType="image/gif"/>
  <Override PartName="/ppt/media/image48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13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08F5C-4EDB-4661-A857-78F927081C9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E51F0-0FE4-4243-91FE-C3437C7B3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09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E51F0-0FE4-4243-91FE-C3437C7B30C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1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E51F0-0FE4-4243-91FE-C3437C7B30C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906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E51F0-0FE4-4243-91FE-C3437C7B30C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6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E51F0-0FE4-4243-91FE-C3437C7B30C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727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EF0C59-76BF-6546-8CD9-C7291B5B5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28571C-F529-9CA8-DBD2-DCFFC1B06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A4A085-8024-78E4-6E3A-098BD2AB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DC14-7D0B-4E03-94F1-7DC58062E410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1D6AB4-B69B-1530-AFF3-0DEE2C77A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98468-B8A0-BE38-2ADB-4B3286E8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072-ECED-4592-838B-172399FD8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10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F99AB-271B-251A-BAA6-2F9DA1DF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221A1B-59A2-A104-5D47-4ED1130C5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34D7DA-B2DD-058F-49FD-DD25E42F1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DC14-7D0B-4E03-94F1-7DC58062E410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5DFD9E-4427-08CE-7035-257EBE40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24C6DE-C01E-7277-B653-DFF7CE47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072-ECED-4592-838B-172399FD8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49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2FC4A-BA93-67F7-A336-1F7BFA801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428829-1450-24F2-D9AD-9158BA32F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0AC398-1546-68CC-1095-EB455C07C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DC14-7D0B-4E03-94F1-7DC58062E410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92F340-2E83-8750-308C-1DE0D3368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0E81D6-DE38-ADD6-B91E-9C8EFF01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072-ECED-4592-838B-172399FD8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69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014D7-A646-93BB-CC70-E6D2F5EC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75681E-6B32-B208-C7CD-8D550A266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7E760A-2A84-DD37-C29B-B014051DB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48049F-7470-4288-2E44-7AC11CE6A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DC14-7D0B-4E03-94F1-7DC58062E410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E51BDF-D340-5A16-49BD-4C1810691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C5FD71-A241-E33E-8DCC-51D59D87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072-ECED-4592-838B-172399FD8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75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C49CA-8473-59BB-AD45-09D0DFA47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0F7D7B-CA07-4FBB-C8F8-86751184A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C6CF26-5F80-DEC2-2FD1-869754FD6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62417D-C399-B1F4-CFEB-784284ED2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74DE2E-84B7-3FD4-7572-12AEADD94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327692-187B-5B76-BBD1-507E3DB4B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DC14-7D0B-4E03-94F1-7DC58062E410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10E292-F83A-289F-DF18-21B269B5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C5BD9A-5582-0426-B8C0-25FCC657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072-ECED-4592-838B-172399FD8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716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703FD-E60C-1B8D-D0D1-2417B2E0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2BF579-8F5E-E0A3-C24C-50A82E34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DC14-7D0B-4E03-94F1-7DC58062E410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C7BA11-9A4E-9737-D6D3-A8D316F2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F938A3-A5CF-B3EF-3D9C-A78BC086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072-ECED-4592-838B-172399FD8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534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D6E93D-7AF6-E9F9-37CD-0A596840B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DC14-7D0B-4E03-94F1-7DC58062E410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FAA483-9389-59E8-B730-64C6FABF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876DCD-E536-5F21-49D8-4D57BD84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072-ECED-4592-838B-172399FD8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44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E8E37-A48E-1A95-BAB0-FFA72355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01AAA-D669-B33E-ED1F-EF06CA5FA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02EBE8-8A10-E993-F72A-D4804588A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831215-FE7D-C194-0D2E-FA21C6301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DC14-7D0B-4E03-94F1-7DC58062E410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867A02-FD0D-1DC7-0FDC-513A5F880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7A5B5C-652A-B2FA-6F6D-3D6324FF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072-ECED-4592-838B-172399FD8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674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9CB09-4B43-8CCA-FA5C-2E9066125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65467D-AC04-D4BD-501B-407F7246A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3577C8-A400-A299-ABEA-E5ABD5A1D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18D865-BAB2-7262-3EFD-4B5B5EB0D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DC14-7D0B-4E03-94F1-7DC58062E410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E0B3E9-27E5-D29B-6298-36E9E6F5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B6158E-B28C-E6AF-0493-24382B87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072-ECED-4592-838B-172399FD8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252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2896E-30E2-B33F-D12E-E33DF22F8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846918-91F0-AE9F-F9BF-ED05B1E43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D40552-703A-5B3D-2494-0A5AF5E9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DC14-7D0B-4E03-94F1-7DC58062E410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C907EB-B4D1-8661-7EE2-DA85BE398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597FB-FEBD-8247-8428-22D1EB6FC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072-ECED-4592-838B-172399FD8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43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E01F5E-A1AD-EF15-70DB-D8AC6AE5D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36D5E9-7C26-95EA-74B1-5756D13FC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BC5EAF-E1C3-36E9-29AC-08F6B1A2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DC14-7D0B-4E03-94F1-7DC58062E410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57697C-9118-0266-8788-B7ADD3D26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C0E215-6838-DAF9-20D0-A2C48FBA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072-ECED-4592-838B-172399FD8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330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FFE7F4-B676-52D1-FEC8-033B775F2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DBBCAB-C5E7-820B-A191-97F85BB3E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5048E6-DFFB-73BA-D9A3-447B1B545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EDC14-7D0B-4E03-94F1-7DC58062E410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8946B8-DBD7-5222-4CB3-230D1E057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522701-1202-E791-D1B8-AD525A0CA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2C072-ECED-4592-838B-172399FD8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37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850D6-A972-3B5D-CB37-296ACBDFA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2020"/>
            <a:ext cx="9144000" cy="985703"/>
          </a:xfrm>
        </p:spPr>
        <p:txBody>
          <a:bodyPr/>
          <a:lstStyle/>
          <a:p>
            <a:r>
              <a:rPr lang="en-US" altLang="zh-CN" dirty="0"/>
              <a:t>SPI Slave Design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B77140-4961-EE0A-C478-91EB4E239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602038"/>
            <a:ext cx="5939307" cy="670060"/>
          </a:xfrm>
        </p:spPr>
        <p:txBody>
          <a:bodyPr/>
          <a:lstStyle/>
          <a:p>
            <a:r>
              <a:rPr lang="en-US" altLang="zh-CN" dirty="0"/>
              <a:t>BY Eric Yang		2026.08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639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D9C3C-411E-1ACD-8E9B-244BB75C8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Overview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9C0AD-50A0-6539-9B30-A83BBF7E2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zh-CN" dirty="0"/>
              <a:t>Features</a:t>
            </a:r>
            <a:endParaRPr lang="en-US" altLang="zh-CN" dirty="0"/>
          </a:p>
          <a:p>
            <a:pPr lvl="1"/>
            <a:r>
              <a:rPr lang="zh-CN" altLang="zh-CN" dirty="0"/>
              <a:t>CPOL=0, CPHA=0</a:t>
            </a:r>
          </a:p>
          <a:p>
            <a:pPr lvl="1"/>
            <a:r>
              <a:rPr lang="zh-CN" altLang="zh-CN" dirty="0"/>
              <a:t>MSB first</a:t>
            </a:r>
          </a:p>
          <a:p>
            <a:pPr lvl="1"/>
            <a:r>
              <a:rPr lang="zh-CN" altLang="zh-CN" dirty="0"/>
              <a:t>Back</a:t>
            </a:r>
            <a:r>
              <a:rPr lang="en-US" altLang="zh-CN" dirty="0"/>
              <a:t>-</a:t>
            </a:r>
            <a:r>
              <a:rPr lang="zh-CN" altLang="zh-CN" dirty="0"/>
              <a:t>to</a:t>
            </a:r>
            <a:r>
              <a:rPr lang="en-US" altLang="zh-CN" dirty="0"/>
              <a:t>-</a:t>
            </a:r>
            <a:r>
              <a:rPr lang="zh-CN" altLang="zh-CN" dirty="0"/>
              <a:t>back transfer support</a:t>
            </a:r>
          </a:p>
          <a:p>
            <a:pPr lvl="1"/>
            <a:r>
              <a:rPr lang="zh-CN" altLang="zh-CN" dirty="0"/>
              <a:t>8 x 16-bit registers available</a:t>
            </a:r>
            <a:endParaRPr lang="en-US" altLang="zh-CN" dirty="0"/>
          </a:p>
          <a:p>
            <a:pPr lvl="1"/>
            <a:r>
              <a:rPr lang="en-US" altLang="zh-CN" dirty="0"/>
              <a:t>Read data within the same frame</a:t>
            </a:r>
            <a:endParaRPr lang="zh-CN" altLang="zh-CN" dirty="0"/>
          </a:p>
          <a:p>
            <a:pPr lvl="1"/>
            <a:r>
              <a:rPr lang="zh-CN" altLang="zh-CN" dirty="0"/>
              <a:t>No system clock</a:t>
            </a:r>
          </a:p>
          <a:p>
            <a:pPr lvl="1"/>
            <a:r>
              <a:rPr lang="zh-CN" altLang="zh-CN" dirty="0"/>
              <a:t>24-bit self-defined frame protocol</a:t>
            </a:r>
          </a:p>
          <a:p>
            <a:endParaRPr lang="en-US" altLang="zh-CN" dirty="0"/>
          </a:p>
          <a:p>
            <a:r>
              <a:rPr lang="zh-CN" altLang="zh-CN" dirty="0"/>
              <a:t> Frame Structure (MSB first)</a:t>
            </a:r>
          </a:p>
          <a:p>
            <a:pPr lvl="1"/>
            <a:r>
              <a:rPr lang="zh-CN" altLang="zh-CN" dirty="0"/>
              <a:t>[23]     </a:t>
            </a:r>
            <a:r>
              <a:rPr lang="en-US" altLang="zh-CN" dirty="0"/>
              <a:t>  </a:t>
            </a:r>
            <a:r>
              <a:rPr lang="zh-CN" altLang="zh-CN" dirty="0"/>
              <a:t>RW     </a:t>
            </a:r>
            <a:r>
              <a:rPr lang="en-US" altLang="zh-CN" dirty="0"/>
              <a:t>  </a:t>
            </a:r>
            <a:r>
              <a:rPr lang="zh-CN" altLang="zh-CN" dirty="0"/>
              <a:t>0 = write, 1 = read</a:t>
            </a:r>
          </a:p>
          <a:p>
            <a:pPr lvl="1"/>
            <a:r>
              <a:rPr lang="zh-CN" altLang="zh-CN" dirty="0"/>
              <a:t>[22:16]  ADDR   only the low AW bits are decoded, upper bits ignored</a:t>
            </a:r>
          </a:p>
          <a:p>
            <a:pPr lvl="1"/>
            <a:r>
              <a:rPr lang="zh-CN" altLang="zh-CN" dirty="0"/>
              <a:t>[15:0]   </a:t>
            </a:r>
            <a:r>
              <a:rPr lang="en-US" altLang="zh-CN" dirty="0"/>
              <a:t> </a:t>
            </a:r>
            <a:r>
              <a:rPr lang="zh-CN" altLang="zh-CN" dirty="0"/>
              <a:t>DATA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31CF31D-959F-2AF2-D0BE-A6052727B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834" y="365125"/>
            <a:ext cx="5399456" cy="23132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D5DE36A-3FAC-9D3F-19A6-61385594AE62}"/>
              </a:ext>
            </a:extLst>
          </p:cNvPr>
          <p:cNvSpPr txBox="1"/>
          <p:nvPr/>
        </p:nvSpPr>
        <p:spPr>
          <a:xfrm>
            <a:off x="6096000" y="2813337"/>
            <a:ext cx="5885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Easy to communicate with MCU using an 8-bit SPI peripheral. </a:t>
            </a:r>
          </a:p>
          <a:p>
            <a:r>
              <a:rPr lang="en-US" altLang="zh-CN" sz="1600" dirty="0"/>
              <a:t>3 </a:t>
            </a:r>
            <a:r>
              <a:rPr lang="zh-CN" altLang="zh-CN" sz="1600" dirty="0"/>
              <a:t>Back</a:t>
            </a:r>
            <a:r>
              <a:rPr lang="en-US" altLang="zh-CN" sz="1600" dirty="0"/>
              <a:t>-</a:t>
            </a:r>
            <a:r>
              <a:rPr lang="zh-CN" altLang="zh-CN" sz="1600" dirty="0"/>
              <a:t>to</a:t>
            </a:r>
            <a:r>
              <a:rPr lang="en-US" altLang="zh-CN" sz="1600" dirty="0"/>
              <a:t>-</a:t>
            </a:r>
            <a:r>
              <a:rPr lang="zh-CN" altLang="zh-CN" sz="1600" dirty="0"/>
              <a:t>back transfer</a:t>
            </a:r>
            <a:r>
              <a:rPr lang="en-US" altLang="zh-CN" sz="1600" dirty="0"/>
              <a:t>s per frame with software NSS control.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3707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0E6B3-4F90-77F6-064C-CD12875B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Front-end Design</a:t>
            </a:r>
            <a:endParaRPr lang="zh-CN" altLang="en-US" b="1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76743086-1E37-7A21-EAD7-E0593F110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653" y="1527764"/>
            <a:ext cx="7480748" cy="473780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2E053E2-9897-1FE2-5F77-0044010A4D12}"/>
              </a:ext>
            </a:extLst>
          </p:cNvPr>
          <p:cNvSpPr txBox="1"/>
          <p:nvPr/>
        </p:nvSpPr>
        <p:spPr>
          <a:xfrm>
            <a:off x="1526145" y="6214056"/>
            <a:ext cx="273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SPI </a:t>
            </a:r>
            <a:r>
              <a:rPr lang="en-US" altLang="zh-CN" dirty="0"/>
              <a:t>Slave </a:t>
            </a:r>
            <a:r>
              <a:rPr lang="zh-CN" altLang="zh-CN" dirty="0"/>
              <a:t>Block Diagram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13C59D-8E37-FDD2-A308-69F115313E62}"/>
              </a:ext>
            </a:extLst>
          </p:cNvPr>
          <p:cNvSpPr txBox="1"/>
          <p:nvPr/>
        </p:nvSpPr>
        <p:spPr>
          <a:xfrm>
            <a:off x="8529301" y="1173821"/>
            <a:ext cx="30394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No system clock</a:t>
            </a:r>
            <a:r>
              <a:rPr lang="en-US" altLang="zh-CN" sz="2000" dirty="0"/>
              <a:t>: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- No CDC problem</a:t>
            </a:r>
            <a:endParaRPr lang="zh-CN" altLang="zh-CN" sz="2000" dirty="0">
              <a:solidFill>
                <a:srgbClr val="FF0000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70F7A8C-5188-5116-5296-039F82FE3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640" y="1999526"/>
            <a:ext cx="3908737" cy="26270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71BC0DD-1097-F791-ACF6-E7E8DACFFCFA}"/>
              </a:ext>
            </a:extLst>
          </p:cNvPr>
          <p:cNvSpPr txBox="1"/>
          <p:nvPr/>
        </p:nvSpPr>
        <p:spPr>
          <a:xfrm>
            <a:off x="8094640" y="4772441"/>
            <a:ext cx="3670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Design is </a:t>
            </a:r>
            <a:r>
              <a:rPr lang="en-US" altLang="zh-CN" dirty="0">
                <a:solidFill>
                  <a:srgbClr val="00B0F0"/>
                </a:solidFill>
              </a:rPr>
              <a:t>parameterized</a:t>
            </a:r>
            <a:r>
              <a:rPr lang="en-US" altLang="zh-CN" dirty="0"/>
              <a:t> –</a:t>
            </a:r>
          </a:p>
          <a:p>
            <a:r>
              <a:rPr lang="en-US" altLang="zh-CN" dirty="0"/>
              <a:t>Easy </a:t>
            </a:r>
            <a:r>
              <a:rPr lang="zh-CN" altLang="zh-CN" dirty="0"/>
              <a:t>to customize the frame format, </a:t>
            </a:r>
            <a:endParaRPr lang="en-US" altLang="zh-CN" dirty="0"/>
          </a:p>
          <a:p>
            <a:r>
              <a:rPr lang="zh-CN" altLang="zh-CN" dirty="0"/>
              <a:t>or modify the number of registers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3917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16E48-EE5D-E03E-9072-C3E8E9ABB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RTL Simulation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2DC17-679A-099E-314C-C97AEFAAC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Simulator: VCS</a:t>
            </a:r>
          </a:p>
          <a:p>
            <a:r>
              <a:rPr lang="en-US" altLang="zh-CN" dirty="0"/>
              <a:t>Testbench Language: SystemVerilog</a:t>
            </a:r>
          </a:p>
          <a:p>
            <a:endParaRPr lang="en-US" altLang="zh-CN" dirty="0"/>
          </a:p>
          <a:p>
            <a:r>
              <a:rPr lang="en-US" altLang="zh-CN" dirty="0"/>
              <a:t>Verification tasks:</a:t>
            </a:r>
          </a:p>
          <a:p>
            <a:pPr lvl="1"/>
            <a:r>
              <a:rPr lang="en-US" altLang="zh-CN" dirty="0"/>
              <a:t>Reset behavior</a:t>
            </a:r>
          </a:p>
          <a:p>
            <a:pPr lvl="1"/>
            <a:r>
              <a:rPr lang="en-US" altLang="zh-CN" dirty="0"/>
              <a:t>All zeros/ones transfer</a:t>
            </a:r>
          </a:p>
          <a:p>
            <a:pPr lvl="1"/>
            <a:r>
              <a:rPr lang="en-US" altLang="zh-CN" dirty="0"/>
              <a:t>Back-to-back transfer</a:t>
            </a:r>
          </a:p>
          <a:p>
            <a:pPr lvl="1"/>
            <a:r>
              <a:rPr lang="en-US" altLang="zh-CN" dirty="0"/>
              <a:t>Read/Write same addr</a:t>
            </a:r>
          </a:p>
          <a:p>
            <a:pPr lvl="1"/>
            <a:r>
              <a:rPr lang="zh-CN" altLang="zh-CN" dirty="0"/>
              <a:t>Read/Write when </a:t>
            </a:r>
            <a:r>
              <a:rPr lang="en-US" altLang="zh-CN" dirty="0"/>
              <a:t>deselected</a:t>
            </a:r>
          </a:p>
          <a:p>
            <a:pPr lvl="1"/>
            <a:r>
              <a:rPr lang="en-US" altLang="zh-CN" dirty="0"/>
              <a:t>Randomized multi-frame transfer</a:t>
            </a:r>
          </a:p>
          <a:p>
            <a:pPr lvl="1"/>
            <a:r>
              <a:rPr lang="en-US" altLang="zh-CN" dirty="0"/>
              <a:t>Functional coverage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E9C0B8-F3F5-9301-0FDD-6E8C08E1D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678" y="3147526"/>
            <a:ext cx="5479616" cy="195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02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88560-AB30-6DC0-E836-87C5627E7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Coverage </a:t>
            </a:r>
            <a:r>
              <a:rPr lang="en-US" altLang="zh-CN" b="1" dirty="0"/>
              <a:t>Report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56E4E9-12BE-209C-E675-3AB5FC08B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zh-CN" dirty="0"/>
              <a:t>Functional </a:t>
            </a:r>
            <a:r>
              <a:rPr lang="en-US" altLang="zh-CN" dirty="0"/>
              <a:t>Coverage </a:t>
            </a:r>
          </a:p>
          <a:p>
            <a:pPr lvl="1"/>
            <a:r>
              <a:rPr lang="zh-CN" altLang="zh-CN" dirty="0"/>
              <a:t>Cover both read and write</a:t>
            </a:r>
          </a:p>
          <a:p>
            <a:pPr lvl="1"/>
            <a:r>
              <a:rPr lang="zh-CN" altLang="zh-CN" dirty="0"/>
              <a:t>Cover all 8 regs</a:t>
            </a:r>
          </a:p>
          <a:p>
            <a:pPr lvl="1"/>
            <a:r>
              <a:rPr lang="zh-CN" altLang="zh-CN" dirty="0"/>
              <a:t>Cover arbitrary addr_hi</a:t>
            </a:r>
          </a:p>
          <a:p>
            <a:pPr lvl="1"/>
            <a:r>
              <a:rPr lang="zh-CN" altLang="zh-CN" dirty="0"/>
              <a:t>Cover data with boundary conditions</a:t>
            </a:r>
          </a:p>
          <a:p>
            <a:pPr lvl="1"/>
            <a:r>
              <a:rPr lang="en-US" altLang="zh-CN" dirty="0"/>
              <a:t>(Cross Cover) </a:t>
            </a:r>
            <a:r>
              <a:rPr lang="zh-CN" altLang="zh-CN" dirty="0"/>
              <a:t>All regs should be both read and written</a:t>
            </a:r>
            <a:endParaRPr lang="en-US" altLang="zh-CN" dirty="0"/>
          </a:p>
          <a:p>
            <a:r>
              <a:rPr lang="zh-CN" altLang="zh-CN" dirty="0"/>
              <a:t>Line</a:t>
            </a:r>
            <a:r>
              <a:rPr lang="en-US" altLang="zh-CN" dirty="0"/>
              <a:t>/</a:t>
            </a:r>
            <a:r>
              <a:rPr lang="zh-CN" altLang="zh-CN" dirty="0"/>
              <a:t>Cond</a:t>
            </a:r>
            <a:r>
              <a:rPr lang="en-US" altLang="zh-CN" dirty="0"/>
              <a:t>/</a:t>
            </a:r>
            <a:r>
              <a:rPr lang="zh-CN" altLang="zh-CN" dirty="0"/>
              <a:t>Toggle</a:t>
            </a:r>
            <a:r>
              <a:rPr lang="en-US" altLang="zh-CN" dirty="0"/>
              <a:t>/</a:t>
            </a:r>
            <a:r>
              <a:rPr lang="zh-CN" altLang="zh-CN" dirty="0"/>
              <a:t>Branch</a:t>
            </a:r>
            <a:r>
              <a:rPr lang="en-US" altLang="zh-CN" dirty="0"/>
              <a:t> Coverage </a:t>
            </a:r>
            <a:endParaRPr lang="zh-CN" altLang="zh-CN" dirty="0"/>
          </a:p>
          <a:p>
            <a:pPr lvl="1"/>
            <a:r>
              <a:rPr lang="en-US" altLang="zh-CN" dirty="0"/>
              <a:t>All </a:t>
            </a:r>
            <a:r>
              <a:rPr lang="en-US" altLang="zh-CN" dirty="0">
                <a:solidFill>
                  <a:srgbClr val="00B050"/>
                </a:solidFill>
              </a:rPr>
              <a:t>100% </a:t>
            </a:r>
            <a:r>
              <a:rPr lang="en-US" altLang="zh-CN" dirty="0"/>
              <a:t>in VCS coverage report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CC091A6-D9C1-163F-18C4-42A2203C5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619" y="365125"/>
            <a:ext cx="6130850" cy="29615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D31552A-0E09-06E7-8702-AF7264A86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02" y="5301562"/>
            <a:ext cx="3458203" cy="132556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8EC3EC7-DE4D-81F8-B771-58F042363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4572" y="4638256"/>
            <a:ext cx="2214272" cy="198886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73DB939-3B49-E367-AB10-9E8503CD89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7571" y="5390971"/>
            <a:ext cx="3364628" cy="12361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0379939-BA6C-187A-A182-71418A6668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4073" y="4707228"/>
            <a:ext cx="2661747" cy="191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3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1EBC7-8281-6F90-B5C1-3E86B339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Waveforms of Transfers</a:t>
            </a:r>
            <a:endParaRPr lang="zh-CN" altLang="en-US" b="1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1645FDD-4092-F1DC-0747-7085F1FB2D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626" y="1398658"/>
            <a:ext cx="10142174" cy="5459342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5BA1990-FD41-F2E6-8BB2-E2E85D7FAF34}"/>
              </a:ext>
            </a:extLst>
          </p:cNvPr>
          <p:cNvCxnSpPr>
            <a:cxnSpLocks/>
          </p:cNvCxnSpPr>
          <p:nvPr/>
        </p:nvCxnSpPr>
        <p:spPr>
          <a:xfrm>
            <a:off x="5366504" y="2770414"/>
            <a:ext cx="0" cy="3935185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262B863-C403-0D2C-C61A-FDFFE7613919}"/>
              </a:ext>
            </a:extLst>
          </p:cNvPr>
          <p:cNvCxnSpPr>
            <a:cxnSpLocks/>
          </p:cNvCxnSpPr>
          <p:nvPr/>
        </p:nvCxnSpPr>
        <p:spPr>
          <a:xfrm>
            <a:off x="8305649" y="2770414"/>
            <a:ext cx="0" cy="3935185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80545FF-8E9F-B60B-8DF2-EC96691648C3}"/>
              </a:ext>
            </a:extLst>
          </p:cNvPr>
          <p:cNvSpPr txBox="1"/>
          <p:nvPr/>
        </p:nvSpPr>
        <p:spPr>
          <a:xfrm>
            <a:off x="2503560" y="4919271"/>
            <a:ext cx="258221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Write 16’hABCD to 7’d3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2515AD9-FF6D-35A1-D7A9-A066355BE867}"/>
              </a:ext>
            </a:extLst>
          </p:cNvPr>
          <p:cNvSpPr txBox="1"/>
          <p:nvPr/>
        </p:nvSpPr>
        <p:spPr>
          <a:xfrm>
            <a:off x="5544970" y="4919271"/>
            <a:ext cx="258221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Write 16’h2FAE to 7’d6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95912B-E651-8D2D-4D25-428014D6F046}"/>
              </a:ext>
            </a:extLst>
          </p:cNvPr>
          <p:cNvSpPr txBox="1"/>
          <p:nvPr/>
        </p:nvSpPr>
        <p:spPr>
          <a:xfrm>
            <a:off x="8978264" y="4919271"/>
            <a:ext cx="17222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Read from 7’d6</a:t>
            </a:r>
            <a:endParaRPr lang="zh-CN" altLang="en-US" dirty="0">
              <a:solidFill>
                <a:srgbClr val="00B0F0"/>
              </a:solidFill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35AA854-B6D0-1AA8-7C8B-C462C64B05C4}"/>
              </a:ext>
            </a:extLst>
          </p:cNvPr>
          <p:cNvCxnSpPr>
            <a:cxnSpLocks/>
          </p:cNvCxnSpPr>
          <p:nvPr/>
        </p:nvCxnSpPr>
        <p:spPr>
          <a:xfrm>
            <a:off x="9172875" y="2770414"/>
            <a:ext cx="0" cy="1975757"/>
          </a:xfrm>
          <a:prstGeom prst="line">
            <a:avLst/>
          </a:prstGeom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00DEB71-A40C-D4F3-3CE3-88AE9C388C48}"/>
              </a:ext>
            </a:extLst>
          </p:cNvPr>
          <p:cNvCxnSpPr>
            <a:cxnSpLocks/>
          </p:cNvCxnSpPr>
          <p:nvPr/>
        </p:nvCxnSpPr>
        <p:spPr>
          <a:xfrm>
            <a:off x="11187461" y="2770414"/>
            <a:ext cx="0" cy="1975757"/>
          </a:xfrm>
          <a:prstGeom prst="line">
            <a:avLst/>
          </a:prstGeom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8E0AB29-4951-5D65-475B-1B3F053E637A}"/>
              </a:ext>
            </a:extLst>
          </p:cNvPr>
          <p:cNvSpPr txBox="1"/>
          <p:nvPr/>
        </p:nvSpPr>
        <p:spPr>
          <a:xfrm>
            <a:off x="8298278" y="4129874"/>
            <a:ext cx="892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7030A0"/>
                </a:solidFill>
              </a:rPr>
              <a:t>Read Command</a:t>
            </a:r>
            <a:endParaRPr lang="zh-CN" altLang="en-US" sz="1200" dirty="0">
              <a:solidFill>
                <a:srgbClr val="7030A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36B8AE7-0B23-DFB3-BA5F-3FF739FADF6F}"/>
              </a:ext>
            </a:extLst>
          </p:cNvPr>
          <p:cNvSpPr txBox="1"/>
          <p:nvPr/>
        </p:nvSpPr>
        <p:spPr>
          <a:xfrm>
            <a:off x="9658993" y="4222206"/>
            <a:ext cx="1220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7030A0"/>
                </a:solidFill>
              </a:rPr>
              <a:t>Data Received</a:t>
            </a:r>
            <a:endParaRPr lang="zh-CN" altLang="en-US" sz="1200" dirty="0">
              <a:solidFill>
                <a:srgbClr val="7030A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373270F-21B9-77A2-327E-96D6F7EB2B5D}"/>
              </a:ext>
            </a:extLst>
          </p:cNvPr>
          <p:cNvSpPr txBox="1"/>
          <p:nvPr/>
        </p:nvSpPr>
        <p:spPr>
          <a:xfrm>
            <a:off x="7121665" y="5510069"/>
            <a:ext cx="235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Back-to-back transfer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152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91D58C-E455-DB79-F6EF-FD2BA5ED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Back-end Design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052BCE-C909-8DB7-113C-DEBBFAD49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zh-CN" dirty="0"/>
              <a:t>onstraints</a:t>
            </a:r>
            <a:r>
              <a:rPr lang="en-US" altLang="zh-CN" dirty="0"/>
              <a:t> (</a:t>
            </a:r>
            <a:r>
              <a:rPr lang="en-US" altLang="zh-CN" dirty="0">
                <a:solidFill>
                  <a:srgbClr val="FF0000"/>
                </a:solidFill>
              </a:rPr>
              <a:t>Without IO</a:t>
            </a:r>
            <a:r>
              <a:rPr lang="en-US" altLang="zh-CN" dirty="0"/>
              <a:t>)</a:t>
            </a:r>
            <a:endParaRPr lang="zh-CN" altLang="zh-CN" dirty="0"/>
          </a:p>
          <a:p>
            <a:pPr lvl="1"/>
            <a:r>
              <a:rPr lang="en-US" altLang="zh-CN" dirty="0"/>
              <a:t>Clock Frequency:     10MHz</a:t>
            </a:r>
          </a:p>
          <a:p>
            <a:pPr lvl="1"/>
            <a:r>
              <a:rPr lang="en-US" altLang="zh-CN" dirty="0"/>
              <a:t>Clock U</a:t>
            </a:r>
            <a:r>
              <a:rPr lang="zh-CN" altLang="zh-CN" dirty="0"/>
              <a:t>ncertainty</a:t>
            </a:r>
            <a:r>
              <a:rPr lang="en-US" altLang="zh-CN" dirty="0"/>
              <a:t>:   </a:t>
            </a:r>
            <a:r>
              <a:rPr lang="zh-CN" altLang="zh-CN" dirty="0"/>
              <a:t>~10% T</a:t>
            </a:r>
            <a:endParaRPr lang="en-US" altLang="zh-CN" dirty="0"/>
          </a:p>
          <a:p>
            <a:pPr lvl="1"/>
            <a:r>
              <a:rPr lang="en-US" altLang="zh-CN" dirty="0"/>
              <a:t>Clock T</a:t>
            </a:r>
            <a:r>
              <a:rPr lang="zh-CN" altLang="zh-CN" dirty="0"/>
              <a:t>ransition</a:t>
            </a:r>
            <a:r>
              <a:rPr lang="en-US" altLang="zh-CN" dirty="0"/>
              <a:t>:      0.3ns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Duty Cycle 60% (60% High, 40% Low)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en-US" altLang="zh-CN" dirty="0"/>
              <a:t>Input/Output delay:</a:t>
            </a:r>
          </a:p>
          <a:p>
            <a:pPr lvl="2"/>
            <a:r>
              <a:rPr lang="en-US" altLang="zh-CN" dirty="0"/>
              <a:t>Max (setup):  Assume 50% </a:t>
            </a:r>
            <a:r>
              <a:rPr lang="zh-CN" altLang="zh-CN" dirty="0"/>
              <a:t>CLK_LOW</a:t>
            </a:r>
            <a:r>
              <a:rPr lang="en-US" altLang="zh-CN" dirty="0"/>
              <a:t> for setup</a:t>
            </a:r>
          </a:p>
          <a:p>
            <a:pPr lvl="2"/>
            <a:r>
              <a:rPr lang="en-US" altLang="zh-CN" dirty="0"/>
              <a:t>Min  (hold):   No requirement as a half-cycle remains before sampling</a:t>
            </a:r>
          </a:p>
          <a:p>
            <a:pPr lvl="2"/>
            <a:endParaRPr lang="zh-CN" altLang="zh-CN" dirty="0"/>
          </a:p>
          <a:p>
            <a:pPr lvl="1"/>
            <a:r>
              <a:rPr lang="en-US" altLang="zh-CN" dirty="0"/>
              <a:t>Max Fanout: 20</a:t>
            </a:r>
            <a:endParaRPr lang="zh-CN" altLang="zh-CN" dirty="0"/>
          </a:p>
          <a:p>
            <a:pPr lvl="1"/>
            <a:endParaRPr lang="zh-CN" altLang="zh-CN" dirty="0"/>
          </a:p>
          <a:p>
            <a:pPr lvl="1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D7E64D-3F4C-A7D7-4C31-CBCBC5141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54" y="515957"/>
            <a:ext cx="5688169" cy="234946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A881FCE-88E2-7E5C-78E6-D28392BDEC89}"/>
              </a:ext>
            </a:extLst>
          </p:cNvPr>
          <p:cNvSpPr/>
          <p:nvPr/>
        </p:nvSpPr>
        <p:spPr>
          <a:xfrm>
            <a:off x="6744789" y="1285668"/>
            <a:ext cx="676447" cy="2078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7C5D65-04D5-635E-5CF2-1BB2A64BED5C}"/>
              </a:ext>
            </a:extLst>
          </p:cNvPr>
          <p:cNvSpPr txBox="1"/>
          <p:nvPr/>
        </p:nvSpPr>
        <p:spPr>
          <a:xfrm>
            <a:off x="7360276" y="2967335"/>
            <a:ext cx="3993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Data is transmitted at negedge,</a:t>
            </a:r>
          </a:p>
          <a:p>
            <a:r>
              <a:rPr lang="en-US" altLang="zh-CN" dirty="0"/>
              <a:t>but sampled at posedge.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Critical path for output delay (setup).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748C62E-BD91-6369-21B6-08396348CE61}"/>
              </a:ext>
            </a:extLst>
          </p:cNvPr>
          <p:cNvCxnSpPr>
            <a:cxnSpLocks/>
          </p:cNvCxnSpPr>
          <p:nvPr/>
        </p:nvCxnSpPr>
        <p:spPr>
          <a:xfrm flipH="1">
            <a:off x="6437137" y="3717548"/>
            <a:ext cx="76194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58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7BC08-4689-B5A5-E995-E9CC2D821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DC &amp; FM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7BAACB-D58D-28FC-96E6-560B8FF1F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DC Summary</a:t>
            </a:r>
          </a:p>
          <a:p>
            <a:pPr lvl="1"/>
            <a:r>
              <a:rPr lang="en-US" altLang="zh-CN" dirty="0"/>
              <a:t>No Violation</a:t>
            </a:r>
          </a:p>
          <a:p>
            <a:pPr lvl="1"/>
            <a:r>
              <a:rPr lang="en-US" altLang="zh-CN" dirty="0"/>
              <a:t>Area: 12014.33 um</a:t>
            </a:r>
            <a:r>
              <a:rPr lang="en-US" altLang="zh-CN" baseline="30000" dirty="0"/>
              <a:t>2</a:t>
            </a:r>
          </a:p>
          <a:p>
            <a:endParaRPr lang="en-US" altLang="zh-CN" dirty="0"/>
          </a:p>
          <a:p>
            <a:r>
              <a:rPr lang="en-US" altLang="zh-CN" dirty="0"/>
              <a:t>FM Summary</a:t>
            </a:r>
          </a:p>
          <a:p>
            <a:pPr lvl="1"/>
            <a:r>
              <a:rPr lang="en-US" altLang="zh-CN" dirty="0"/>
              <a:t>No LAT</a:t>
            </a:r>
          </a:p>
          <a:p>
            <a:pPr lvl="1"/>
            <a:r>
              <a:rPr lang="en-US" altLang="zh-CN" dirty="0"/>
              <a:t>Verification Succeeded</a:t>
            </a:r>
          </a:p>
          <a:p>
            <a:pPr marL="457200" lvl="1" indent="0">
              <a:buNone/>
            </a:pPr>
            <a:endParaRPr lang="en-US" altLang="zh-CN" baseline="30000" dirty="0"/>
          </a:p>
          <a:p>
            <a:pPr lvl="1"/>
            <a:endParaRPr lang="en-US" altLang="zh-CN" baseline="30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201798-21A7-E9BF-DC35-F534C381D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445" y="141302"/>
            <a:ext cx="2534327" cy="67166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AD30CEA-DC8E-05A2-F824-9F2FD622E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370" y="3086636"/>
            <a:ext cx="4122764" cy="360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91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B98FB-E290-FB46-1661-D6BC54D76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Innovus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3B40E7-7DA7-2803-955D-67EE070BB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Process: TSMC 0.18um</a:t>
            </a:r>
          </a:p>
          <a:p>
            <a:r>
              <a:rPr lang="en-US" altLang="zh-CN" dirty="0"/>
              <a:t>LIB:</a:t>
            </a:r>
            <a:r>
              <a:rPr lang="zh-CN" altLang="zh-CN" dirty="0"/>
              <a:t> tcb018gbwp7t</a:t>
            </a:r>
            <a:endParaRPr lang="en-US" altLang="zh-CN" dirty="0"/>
          </a:p>
          <a:p>
            <a:pPr lvl="1"/>
            <a:r>
              <a:rPr lang="en-US" altLang="zh-CN" dirty="0"/>
              <a:t>WC:</a:t>
            </a:r>
            <a:r>
              <a:rPr lang="zh-CN" altLang="zh-CN" dirty="0"/>
              <a:t> SS/125</a:t>
            </a:r>
            <a:r>
              <a:rPr lang="zh-CN" altLang="en-US" dirty="0"/>
              <a:t>℃</a:t>
            </a:r>
            <a:r>
              <a:rPr lang="zh-CN" altLang="zh-CN" dirty="0"/>
              <a:t>/1.62V </a:t>
            </a:r>
            <a:r>
              <a:rPr lang="en-US" altLang="zh-CN" dirty="0"/>
              <a:t>for </a:t>
            </a:r>
            <a:r>
              <a:rPr lang="zh-CN" altLang="zh-CN" dirty="0"/>
              <a:t>setup</a:t>
            </a:r>
            <a:endParaRPr lang="en-US" altLang="zh-CN" dirty="0"/>
          </a:p>
          <a:p>
            <a:pPr lvl="1"/>
            <a:r>
              <a:rPr lang="en-US" altLang="zh-CN" dirty="0"/>
              <a:t>BC:  </a:t>
            </a:r>
            <a:r>
              <a:rPr lang="zh-CN" altLang="zh-CN" dirty="0"/>
              <a:t>FF/</a:t>
            </a:r>
            <a:r>
              <a:rPr lang="en-US" altLang="zh-CN" dirty="0"/>
              <a:t>  </a:t>
            </a:r>
            <a:r>
              <a:rPr lang="zh-CN" altLang="zh-CN" dirty="0"/>
              <a:t>0</a:t>
            </a:r>
            <a:r>
              <a:rPr lang="zh-CN" altLang="en-US" dirty="0"/>
              <a:t>℃ </a:t>
            </a:r>
            <a:r>
              <a:rPr lang="zh-CN" altLang="zh-CN" dirty="0"/>
              <a:t>/</a:t>
            </a:r>
            <a:r>
              <a:rPr lang="en-US" altLang="zh-CN" dirty="0"/>
              <a:t> </a:t>
            </a:r>
            <a:r>
              <a:rPr lang="zh-CN" altLang="zh-CN" dirty="0"/>
              <a:t>1.98V</a:t>
            </a:r>
            <a:r>
              <a:rPr lang="en-US" altLang="zh-CN" dirty="0"/>
              <a:t> for </a:t>
            </a:r>
            <a:r>
              <a:rPr lang="zh-CN" altLang="zh-CN" dirty="0"/>
              <a:t>hold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FloorPlan</a:t>
            </a:r>
          </a:p>
          <a:p>
            <a:pPr lvl="1"/>
            <a:r>
              <a:rPr lang="en-US" altLang="zh-CN" dirty="0"/>
              <a:t>Die:  294um * 98um</a:t>
            </a:r>
          </a:p>
          <a:p>
            <a:pPr lvl="2"/>
            <a:r>
              <a:rPr lang="zh-CN" altLang="zh-CN" dirty="0"/>
              <a:t>DIE_W</a:t>
            </a:r>
            <a:r>
              <a:rPr lang="en-US" altLang="zh-CN" dirty="0"/>
              <a:t> = </a:t>
            </a:r>
            <a:r>
              <a:rPr lang="zh-CN" altLang="zh-CN" dirty="0"/>
              <a:t>294 </a:t>
            </a:r>
            <a:r>
              <a:rPr lang="en-US" altLang="zh-CN" dirty="0"/>
              <a:t>= </a:t>
            </a:r>
            <a:r>
              <a:rPr lang="zh-CN" altLang="zh-CN" dirty="0"/>
              <a:t>core 270 + 2 x 12 margin</a:t>
            </a:r>
          </a:p>
          <a:p>
            <a:pPr lvl="2"/>
            <a:r>
              <a:rPr lang="zh-CN" altLang="zh-CN" dirty="0"/>
              <a:t>DIE_H</a:t>
            </a:r>
            <a:r>
              <a:rPr lang="en-US" altLang="zh-CN" dirty="0"/>
              <a:t>  = </a:t>
            </a:r>
            <a:r>
              <a:rPr lang="zh-CN" altLang="zh-CN" dirty="0"/>
              <a:t>98 </a:t>
            </a:r>
            <a:r>
              <a:rPr lang="en-US" altLang="zh-CN" dirty="0"/>
              <a:t>  = </a:t>
            </a:r>
            <a:r>
              <a:rPr lang="zh-CN" altLang="zh-CN" dirty="0"/>
              <a:t>core</a:t>
            </a:r>
            <a:r>
              <a:rPr lang="en-US" altLang="zh-CN" dirty="0"/>
              <a:t>   </a:t>
            </a:r>
            <a:r>
              <a:rPr lang="zh-CN" altLang="zh-CN" dirty="0"/>
              <a:t>80</a:t>
            </a:r>
            <a:r>
              <a:rPr lang="en-US" altLang="zh-CN" dirty="0"/>
              <a:t> </a:t>
            </a:r>
            <a:r>
              <a:rPr lang="zh-CN" altLang="zh-CN" dirty="0"/>
              <a:t>+ 2 x 9  </a:t>
            </a:r>
            <a:r>
              <a:rPr lang="en-US" altLang="zh-CN" dirty="0"/>
              <a:t> </a:t>
            </a:r>
            <a:r>
              <a:rPr lang="zh-CN" altLang="zh-CN" dirty="0"/>
              <a:t>margin</a:t>
            </a:r>
            <a:endParaRPr lang="en-US" altLang="zh-CN" dirty="0"/>
          </a:p>
          <a:p>
            <a:pPr lvl="1"/>
            <a:r>
              <a:rPr lang="en-US" altLang="zh-CN" dirty="0"/>
              <a:t>Pins: {</a:t>
            </a:r>
            <a:r>
              <a:rPr lang="zh-CN" altLang="zh-CN" dirty="0"/>
              <a:t>miso miso_oen mosi sck ssn rst_n</a:t>
            </a:r>
            <a:r>
              <a:rPr lang="en-US" altLang="zh-CN" dirty="0"/>
              <a:t>}</a:t>
            </a:r>
            <a:endParaRPr lang="zh-CN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924161-F118-D5F7-EAF2-3A2533FA6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818" y="365125"/>
            <a:ext cx="6231979" cy="424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153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45F533-32CA-1044-8D75-53DD643D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Innovus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1712FC-3EC9-D7D5-420B-06190ABC4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Power</a:t>
            </a:r>
          </a:p>
          <a:p>
            <a:pPr lvl="1"/>
            <a:r>
              <a:rPr lang="en-US" altLang="zh-CN" dirty="0"/>
              <a:t>Power Ring</a:t>
            </a:r>
          </a:p>
          <a:p>
            <a:pPr lvl="2"/>
            <a:r>
              <a:rPr lang="en-US" altLang="zh-CN" dirty="0"/>
              <a:t>Metal 6 V</a:t>
            </a:r>
            <a:r>
              <a:rPr lang="zh-CN" altLang="zh-CN" dirty="0"/>
              <a:t>ertical</a:t>
            </a:r>
          </a:p>
          <a:p>
            <a:pPr lvl="2"/>
            <a:r>
              <a:rPr lang="en-US" altLang="zh-CN" dirty="0"/>
              <a:t>Metal 5 Horizontal</a:t>
            </a:r>
          </a:p>
          <a:p>
            <a:pPr lvl="2"/>
            <a:endParaRPr lang="en-US" altLang="zh-CN" dirty="0"/>
          </a:p>
          <a:p>
            <a:pPr lvl="1"/>
            <a:r>
              <a:rPr lang="en-US" altLang="zh-CN" dirty="0"/>
              <a:t>Power </a:t>
            </a:r>
            <a:r>
              <a:rPr lang="zh-CN" altLang="zh-CN" dirty="0"/>
              <a:t>Stripe</a:t>
            </a:r>
            <a:endParaRPr lang="en-US" altLang="zh-CN" dirty="0"/>
          </a:p>
          <a:p>
            <a:pPr lvl="2"/>
            <a:r>
              <a:rPr lang="en-US" altLang="zh-CN" dirty="0"/>
              <a:t>Metal 6 V</a:t>
            </a:r>
            <a:r>
              <a:rPr lang="zh-CN" altLang="zh-CN" dirty="0"/>
              <a:t>ertical</a:t>
            </a:r>
            <a:endParaRPr lang="en-US" altLang="zh-CN" dirty="0"/>
          </a:p>
          <a:p>
            <a:pPr lvl="2"/>
            <a:r>
              <a:rPr lang="en-US" altLang="zh-CN" dirty="0"/>
              <a:t>4 sets</a:t>
            </a:r>
          </a:p>
          <a:p>
            <a:pPr lvl="2"/>
            <a:endParaRPr lang="zh-CN" altLang="zh-CN" dirty="0"/>
          </a:p>
          <a:p>
            <a:pPr lvl="1"/>
            <a:r>
              <a:rPr lang="en-US" altLang="zh-CN" dirty="0"/>
              <a:t>Power Rail</a:t>
            </a:r>
          </a:p>
          <a:p>
            <a:pPr lvl="2"/>
            <a:r>
              <a:rPr lang="en-US" altLang="zh-CN" dirty="0"/>
              <a:t>Metal 1 Horizontal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FCBCC0-B8EE-E7E4-9958-BD3B6A78B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904" y="508712"/>
            <a:ext cx="7871912" cy="538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06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1F5F9-9147-A19B-D1AE-DD1C98C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Innovus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510B9E-9A95-6753-1CA7-4F9ABD7D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Summary</a:t>
            </a:r>
          </a:p>
          <a:p>
            <a:pPr lvl="1"/>
            <a:r>
              <a:rPr lang="en-US" altLang="zh-CN" dirty="0"/>
              <a:t>Density: 67.928%</a:t>
            </a:r>
          </a:p>
          <a:p>
            <a:pPr lvl="2"/>
            <a:r>
              <a:rPr lang="en-US" altLang="zh-CN" dirty="0"/>
              <a:t>100.000% with Fillers</a:t>
            </a:r>
          </a:p>
          <a:p>
            <a:pPr lvl="1"/>
            <a:r>
              <a:rPr lang="en-US" altLang="zh-CN" dirty="0"/>
              <a:t>Total number of glitch violations: 0</a:t>
            </a:r>
          </a:p>
          <a:p>
            <a:pPr lvl="1"/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AFD67C-271B-856C-61A1-E2EB9FF8F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48" y="3625379"/>
            <a:ext cx="5474188" cy="302655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6AFA10-186E-DC96-0EE3-177B0FC3C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888" y="5321453"/>
            <a:ext cx="4571253" cy="13304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A6B8683-04F2-1A4D-5C9B-20F7F2B2D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066" y="937642"/>
            <a:ext cx="5849775" cy="390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274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C5137-33E6-BBE3-467D-12BE79EE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IO Plan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8EBC22-BDEA-7162-CA91-E6E7A27BE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Power IO</a:t>
            </a:r>
          </a:p>
          <a:p>
            <a:pPr lvl="1"/>
            <a:r>
              <a:rPr lang="en-US" altLang="zh-CN" dirty="0"/>
              <a:t>Pre-drivers &amp; Core</a:t>
            </a:r>
          </a:p>
          <a:p>
            <a:pPr lvl="2"/>
            <a:r>
              <a:rPr lang="en-US" altLang="zh-CN" dirty="0"/>
              <a:t>1.8V</a:t>
            </a:r>
          </a:p>
          <a:p>
            <a:pPr lvl="2"/>
            <a:endParaRPr lang="en-US" altLang="zh-CN" dirty="0"/>
          </a:p>
          <a:p>
            <a:pPr lvl="1"/>
            <a:r>
              <a:rPr lang="en-US" altLang="zh-CN" dirty="0"/>
              <a:t>Post-drivers</a:t>
            </a:r>
          </a:p>
          <a:p>
            <a:pPr lvl="2"/>
            <a:r>
              <a:rPr lang="en-US" altLang="zh-CN" dirty="0"/>
              <a:t>3.3V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We take PVDD2POC as </a:t>
            </a:r>
            <a:r>
              <a:rPr lang="zh-CN" altLang="zh-CN" dirty="0">
                <a:solidFill>
                  <a:srgbClr val="FF0000"/>
                </a:solidFill>
              </a:rPr>
              <a:t>the </a:t>
            </a:r>
            <a:endParaRPr lang="en-US" altLang="zh-CN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zh-CN" altLang="zh-CN" dirty="0">
                <a:solidFill>
                  <a:srgbClr val="FF0000"/>
                </a:solidFill>
              </a:rPr>
              <a:t>post-driver power supply</a:t>
            </a:r>
            <a:endParaRPr lang="en-US" altLang="zh-CN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Power On Control</a:t>
            </a:r>
            <a:endParaRPr lang="en-US" altLang="zh-CN" dirty="0"/>
          </a:p>
          <a:p>
            <a:pPr lvl="2"/>
            <a:r>
              <a:rPr lang="en-US" altLang="zh-CN" dirty="0"/>
              <a:t>Will explain later</a:t>
            </a:r>
          </a:p>
          <a:p>
            <a:pPr marL="914400" lvl="2" indent="0">
              <a:buNone/>
            </a:pPr>
            <a:endParaRPr lang="en-US" altLang="zh-CN" dirty="0"/>
          </a:p>
          <a:p>
            <a:pPr lvl="2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CF58ED-2BA6-F9E1-00F3-7860CDF88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917" y="917364"/>
            <a:ext cx="5972450" cy="26278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E9F7E59-8121-B191-FFCD-B4C8C3800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917" y="3654709"/>
            <a:ext cx="5972450" cy="216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81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4707BF-EC4B-C443-AB96-8800AFA6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IO Plan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4148D9-46C5-C3BD-3B08-530581E52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Digital IO</a:t>
            </a:r>
          </a:p>
          <a:p>
            <a:pPr lvl="1"/>
            <a:r>
              <a:rPr lang="en-US" altLang="zh-CN" dirty="0"/>
              <a:t>Input (</a:t>
            </a:r>
            <a:r>
              <a:rPr lang="zh-CN" altLang="zh-CN" dirty="0"/>
              <a:t>PR</a:t>
            </a:r>
            <a:r>
              <a:rPr lang="en-US" altLang="zh-CN" dirty="0">
                <a:solidFill>
                  <a:srgbClr val="00B050"/>
                </a:solidFill>
              </a:rPr>
              <a:t>X</a:t>
            </a:r>
            <a:r>
              <a:rPr lang="zh-CN" altLang="zh-CN" dirty="0"/>
              <a:t>W0812SCDG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Pull-up:       rst_n, ssn</a:t>
            </a:r>
          </a:p>
          <a:p>
            <a:pPr lvl="2"/>
            <a:r>
              <a:rPr lang="en-US" altLang="zh-CN" dirty="0"/>
              <a:t>Pull-down:  sck, mosi</a:t>
            </a:r>
          </a:p>
          <a:p>
            <a:pPr lvl="2"/>
            <a:r>
              <a:rPr lang="zh-CN" altLang="zh-CN" dirty="0"/>
              <a:t>Schmitt Trigger Input</a:t>
            </a:r>
            <a:endParaRPr lang="en-US" altLang="zh-CN" dirty="0"/>
          </a:p>
          <a:p>
            <a:pPr lvl="3"/>
            <a:r>
              <a:rPr lang="en-US" altLang="zh-CN" dirty="0"/>
              <a:t>For n</a:t>
            </a:r>
            <a:r>
              <a:rPr lang="zh-CN" altLang="zh-CN" dirty="0"/>
              <a:t>oise immunity</a:t>
            </a:r>
            <a:endParaRPr lang="en-US" altLang="zh-CN" dirty="0"/>
          </a:p>
          <a:p>
            <a:pPr lvl="1"/>
            <a:r>
              <a:rPr lang="en-US" altLang="zh-CN" dirty="0"/>
              <a:t>Output</a:t>
            </a:r>
          </a:p>
          <a:p>
            <a:pPr lvl="2"/>
            <a:r>
              <a:rPr lang="zh-CN" altLang="zh-CN" dirty="0"/>
              <a:t>PRDW0812SCDG</a:t>
            </a:r>
          </a:p>
          <a:p>
            <a:pPr lvl="2"/>
            <a:r>
              <a:rPr lang="en-US" altLang="zh-CN" dirty="0"/>
              <a:t>W</a:t>
            </a:r>
            <a:r>
              <a:rPr lang="zh-CN" altLang="zh-CN" dirty="0"/>
              <a:t>ith Slew Rate Controlled Output</a:t>
            </a:r>
            <a:endParaRPr lang="en-US" altLang="zh-CN" dirty="0"/>
          </a:p>
          <a:p>
            <a:pPr lvl="3"/>
            <a:r>
              <a:rPr lang="en-US" altLang="zh-CN" dirty="0"/>
              <a:t>Reduce peak current</a:t>
            </a:r>
          </a:p>
          <a:p>
            <a:pPr lvl="2"/>
            <a:r>
              <a:rPr lang="en-US" altLang="zh-CN" dirty="0"/>
              <a:t>8mA output</a:t>
            </a:r>
          </a:p>
          <a:p>
            <a:pPr lvl="3"/>
            <a:r>
              <a:rPr lang="en-US" altLang="zh-CN" dirty="0"/>
              <a:t>~7ns edge @20pF, 3.3V</a:t>
            </a:r>
          </a:p>
          <a:p>
            <a:pPr lvl="1"/>
            <a:endParaRPr lang="zh-CN" altLang="zh-CN" dirty="0"/>
          </a:p>
          <a:p>
            <a:pPr lvl="2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F000A0-9A06-E39B-A292-69A87EB96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402" y="267354"/>
            <a:ext cx="5968901" cy="30265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E1D6980-AAE7-78A6-BC80-992F4ECFC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402" y="3443197"/>
            <a:ext cx="6071397" cy="317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87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C285CA-A1DF-5013-8F5B-F38232B4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Virtuoso Layout</a:t>
            </a:r>
            <a:endParaRPr lang="zh-CN" altLang="en-US" b="1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31B5087-A7A9-4329-D877-0F96E604CC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894" y="2132744"/>
            <a:ext cx="8582211" cy="4360131"/>
          </a:xfrm>
          <a:prstGeom prst="rect">
            <a:avLst/>
          </a:prstGeom>
        </p:spPr>
      </p:pic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F5FA80B9-19DE-3406-F234-6DEBE43D27C6}"/>
              </a:ext>
            </a:extLst>
          </p:cNvPr>
          <p:cNvSpPr/>
          <p:nvPr/>
        </p:nvSpPr>
        <p:spPr>
          <a:xfrm>
            <a:off x="3116943" y="2356834"/>
            <a:ext cx="5576296" cy="2207909"/>
          </a:xfrm>
          <a:custGeom>
            <a:avLst/>
            <a:gdLst>
              <a:gd name="csX0" fmla="*/ 0 w 5576552"/>
              <a:gd name="csY0" fmla="*/ 0 h 2234484"/>
              <a:gd name="csX1" fmla="*/ 25758 w 5576552"/>
              <a:gd name="csY1" fmla="*/ 1423115 h 2234484"/>
              <a:gd name="csX2" fmla="*/ 2182969 w 5576552"/>
              <a:gd name="csY2" fmla="*/ 1429555 h 2234484"/>
              <a:gd name="csX3" fmla="*/ 2163651 w 5576552"/>
              <a:gd name="csY3" fmla="*/ 2228045 h 2234484"/>
              <a:gd name="csX4" fmla="*/ 5544355 w 5576552"/>
              <a:gd name="csY4" fmla="*/ 2234484 h 2234484"/>
              <a:gd name="csX5" fmla="*/ 5576552 w 5576552"/>
              <a:gd name="csY5" fmla="*/ 25758 h 2234484"/>
              <a:gd name="csX6" fmla="*/ 0 w 5576552"/>
              <a:gd name="csY6" fmla="*/ 0 h 22344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576552" h="2234484">
                <a:moveTo>
                  <a:pt x="0" y="0"/>
                </a:moveTo>
                <a:lnTo>
                  <a:pt x="25758" y="1423115"/>
                </a:lnTo>
                <a:lnTo>
                  <a:pt x="2182969" y="1429555"/>
                </a:lnTo>
                <a:lnTo>
                  <a:pt x="2163651" y="2228045"/>
                </a:lnTo>
                <a:lnTo>
                  <a:pt x="5544355" y="2234484"/>
                </a:lnTo>
                <a:lnTo>
                  <a:pt x="5576552" y="25758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63646FB-5107-9A02-3298-E1EF1FF4666C}"/>
              </a:ext>
            </a:extLst>
          </p:cNvPr>
          <p:cNvCxnSpPr>
            <a:cxnSpLocks/>
          </p:cNvCxnSpPr>
          <p:nvPr/>
        </p:nvCxnSpPr>
        <p:spPr>
          <a:xfrm flipV="1">
            <a:off x="5900058" y="1817914"/>
            <a:ext cx="451758" cy="11811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747ECF9-FE35-9A62-4183-1383D30D096B}"/>
              </a:ext>
            </a:extLst>
          </p:cNvPr>
          <p:cNvSpPr txBox="1"/>
          <p:nvPr/>
        </p:nvSpPr>
        <p:spPr>
          <a:xfrm>
            <a:off x="5814607" y="1356249"/>
            <a:ext cx="1226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My Part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315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3FC25-2F97-C850-548B-0A7FD4D3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Virtuoso Layout</a:t>
            </a:r>
            <a:endParaRPr lang="zh-CN" altLang="en-US" dirty="0"/>
          </a:p>
        </p:txBody>
      </p:sp>
      <p:pic>
        <p:nvPicPr>
          <p:cNvPr id="20" name="内容占位符 19">
            <a:extLst>
              <a:ext uri="{FF2B5EF4-FFF2-40B4-BE49-F238E27FC236}">
                <a16:creationId xmlns:a16="http://schemas.microsoft.com/office/drawing/2014/main" id="{112CE7F9-361C-2659-1381-3C352272B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452" y="2181237"/>
            <a:ext cx="5967036" cy="367202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F393BFC-C20E-7183-AD07-CAF189D41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63" y="2181237"/>
            <a:ext cx="6525587" cy="346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00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A8FED-BBCE-AFC1-4822-EBD021464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LVS &amp; DRC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1951B6-7793-287F-C71A-43C7BAD13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6773216" cy="4667250"/>
          </a:xfrm>
        </p:spPr>
        <p:txBody>
          <a:bodyPr>
            <a:normAutofit/>
          </a:bodyPr>
          <a:lstStyle/>
          <a:p>
            <a:r>
              <a:rPr lang="en-US" altLang="zh-CN" dirty="0"/>
              <a:t>LVS </a:t>
            </a:r>
          </a:p>
          <a:p>
            <a:pPr lvl="1"/>
            <a:r>
              <a:rPr lang="en-US" altLang="zh-CN" dirty="0"/>
              <a:t>All passed</a:t>
            </a:r>
          </a:p>
          <a:p>
            <a:r>
              <a:rPr lang="en-US" altLang="zh-CN" dirty="0"/>
              <a:t>DRC</a:t>
            </a:r>
          </a:p>
          <a:p>
            <a:pPr lvl="1"/>
            <a:r>
              <a:rPr lang="en-US" altLang="zh-CN" sz="2000" dirty="0"/>
              <a:t>UTM40K.R.1 { @ Min. density of M6 area &gt;= 30% }</a:t>
            </a:r>
          </a:p>
          <a:p>
            <a:pPr lvl="2"/>
            <a:r>
              <a:rPr lang="en-US" altLang="zh-CN" sz="1800" dirty="0">
                <a:solidFill>
                  <a:srgbClr val="FF0000"/>
                </a:solidFill>
              </a:rPr>
              <a:t>D</a:t>
            </a:r>
            <a:r>
              <a:rPr lang="zh-CN" altLang="zh-CN" sz="1800" dirty="0">
                <a:solidFill>
                  <a:srgbClr val="FF0000"/>
                </a:solidFill>
              </a:rPr>
              <a:t>ummy fill</a:t>
            </a:r>
            <a:r>
              <a:rPr lang="en-US" altLang="zh-CN" sz="1800" dirty="0">
                <a:solidFill>
                  <a:srgbClr val="FF0000"/>
                </a:solidFill>
              </a:rPr>
              <a:t> by others</a:t>
            </a:r>
          </a:p>
          <a:p>
            <a:pPr lvl="1"/>
            <a:r>
              <a:rPr lang="en-US" altLang="zh-CN" sz="2000" dirty="0"/>
              <a:t>PO.R.3 { @ Min poly area coverage &lt; 14% }</a:t>
            </a:r>
          </a:p>
          <a:p>
            <a:pPr lvl="2"/>
            <a:r>
              <a:rPr lang="en-US" altLang="zh-CN" sz="1800" dirty="0">
                <a:solidFill>
                  <a:srgbClr val="FF0000"/>
                </a:solidFill>
              </a:rPr>
              <a:t>D</a:t>
            </a:r>
            <a:r>
              <a:rPr lang="zh-CN" altLang="zh-CN" sz="1800" dirty="0">
                <a:solidFill>
                  <a:srgbClr val="FF0000"/>
                </a:solidFill>
              </a:rPr>
              <a:t>ummy fill</a:t>
            </a:r>
            <a:r>
              <a:rPr lang="en-US" altLang="zh-CN" sz="1800" dirty="0">
                <a:solidFill>
                  <a:srgbClr val="FF0000"/>
                </a:solidFill>
              </a:rPr>
              <a:t> by others</a:t>
            </a:r>
            <a:endParaRPr lang="en-US" altLang="zh-CN" sz="1800" dirty="0"/>
          </a:p>
          <a:p>
            <a:pPr lvl="1"/>
            <a:r>
              <a:rPr lang="en-US" altLang="zh-CN" sz="2000" dirty="0"/>
              <a:t>M5.R.1 { @ Min M5 area coverage &lt; 30%}</a:t>
            </a:r>
          </a:p>
          <a:p>
            <a:pPr lvl="2"/>
            <a:r>
              <a:rPr lang="en-US" altLang="zh-CN" sz="1800" dirty="0">
                <a:solidFill>
                  <a:srgbClr val="FF0000"/>
                </a:solidFill>
              </a:rPr>
              <a:t>D</a:t>
            </a:r>
            <a:r>
              <a:rPr lang="zh-CN" altLang="zh-CN" sz="1800" dirty="0">
                <a:solidFill>
                  <a:srgbClr val="FF0000"/>
                </a:solidFill>
              </a:rPr>
              <a:t>ummy fill</a:t>
            </a:r>
            <a:r>
              <a:rPr lang="en-US" altLang="zh-CN" sz="1800" dirty="0">
                <a:solidFill>
                  <a:srgbClr val="FF0000"/>
                </a:solidFill>
              </a:rPr>
              <a:t> by others</a:t>
            </a:r>
            <a:endParaRPr lang="en-US" altLang="zh-CN" dirty="0"/>
          </a:p>
          <a:p>
            <a:pPr lvl="1"/>
            <a:r>
              <a:rPr lang="en-US" altLang="zh-CN" sz="2000" dirty="0"/>
              <a:t>ESD.24g &amp; ESD.25g</a:t>
            </a:r>
          </a:p>
          <a:p>
            <a:pPr lvl="2"/>
            <a:r>
              <a:rPr lang="en-US" altLang="zh-CN" sz="1800" dirty="0">
                <a:solidFill>
                  <a:srgbClr val="FF0000"/>
                </a:solidFill>
              </a:rPr>
              <a:t>W</a:t>
            </a:r>
            <a:r>
              <a:rPr lang="zh-CN" altLang="zh-CN" sz="1800" dirty="0">
                <a:solidFill>
                  <a:srgbClr val="FF0000"/>
                </a:solidFill>
              </a:rPr>
              <a:t>aived</a:t>
            </a:r>
            <a:r>
              <a:rPr lang="en-US" altLang="zh-CN" sz="1800" dirty="0">
                <a:solidFill>
                  <a:srgbClr val="FF0000"/>
                </a:solidFill>
              </a:rPr>
              <a:t> due to rn_tpd018nv_280a.pdf</a:t>
            </a:r>
            <a:endParaRPr lang="zh-CN" altLang="en-US" sz="1800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9083B4-710F-F0C6-4257-8BA739124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290" y="2783595"/>
            <a:ext cx="4519410" cy="395510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616A27C-780D-84BA-9721-0A036C5B2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551" y="698951"/>
            <a:ext cx="5770194" cy="186377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B1CB155-E726-AB76-59A1-12C7CB9CE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655" y="1208048"/>
            <a:ext cx="2973821" cy="136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17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60840-31F9-05D2-0CF3-D7A603834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Gate-level Simulation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308669-AC10-B809-A11D-7D4BE2DEF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Simulator: VCS</a:t>
            </a:r>
          </a:p>
          <a:p>
            <a:r>
              <a:rPr lang="en-US" altLang="zh-CN" dirty="0"/>
              <a:t>Testbench Language: SystemVerilog</a:t>
            </a:r>
          </a:p>
          <a:p>
            <a:r>
              <a:rPr lang="en-US" altLang="zh-CN" dirty="0"/>
              <a:t>Same tasks with </a:t>
            </a:r>
            <a:r>
              <a:rPr lang="zh-CN" altLang="zh-CN" dirty="0"/>
              <a:t>SDF annotation</a:t>
            </a:r>
            <a:endParaRPr lang="en-US" altLang="zh-CN" dirty="0"/>
          </a:p>
          <a:p>
            <a:r>
              <a:rPr lang="en-US" altLang="zh-CN" dirty="0"/>
              <a:t>Max/Min all passed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346381F-8439-F06C-2A03-DA7F320C8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05" y="4219128"/>
            <a:ext cx="5808017" cy="16807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B37A1C4-D48A-5C0C-C922-DF8902624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850" y="4219128"/>
            <a:ext cx="5719497" cy="162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252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081B023-7586-116F-6B1D-176E098C2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995" y="3860834"/>
            <a:ext cx="3653147" cy="284926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D88AC9F-AC77-5D05-AE7E-E7EBD2CE0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131" y="365125"/>
            <a:ext cx="4174127" cy="263204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F884E4D-8077-EFB3-DDC9-6D7E5C06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Post-</a:t>
            </a:r>
            <a:r>
              <a:rPr lang="en-US" altLang="zh-CN" b="1" dirty="0"/>
              <a:t>layout</a:t>
            </a:r>
            <a:r>
              <a:rPr lang="zh-CN" altLang="zh-CN" b="1" dirty="0"/>
              <a:t> Simulation</a:t>
            </a:r>
            <a:endParaRPr lang="zh-CN" altLang="en-US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9487BB-3E7A-36ED-35E3-9D2B34732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0502" y="3900903"/>
            <a:ext cx="3877212" cy="2809200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8E5CCA-E99E-80C3-01F5-A5C61C6D8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POC test</a:t>
            </a:r>
          </a:p>
          <a:p>
            <a:r>
              <a:rPr lang="en-US" altLang="zh-CN" dirty="0"/>
              <a:t>Why POC?</a:t>
            </a:r>
          </a:p>
          <a:p>
            <a:pPr lvl="1"/>
            <a:r>
              <a:rPr lang="en-US" altLang="zh-CN" sz="2000" dirty="0"/>
              <a:t>T</a:t>
            </a:r>
            <a:r>
              <a:rPr lang="zh-CN" altLang="zh-CN" sz="2000" dirty="0"/>
              <a:t>he power-up sequence between rails is not guaranteed</a:t>
            </a:r>
            <a:endParaRPr lang="en-US" altLang="zh-CN" sz="2000" dirty="0"/>
          </a:p>
          <a:p>
            <a:pPr lvl="1"/>
            <a:r>
              <a:rPr lang="en-US" altLang="zh-CN" sz="2000" dirty="0"/>
              <a:t>I</a:t>
            </a:r>
            <a:r>
              <a:rPr lang="zh-CN" altLang="zh-CN" sz="2000" dirty="0"/>
              <a:t>t is common for the IO supply (3.3 V) to come up before the core supply (1.8 V)</a:t>
            </a:r>
            <a:endParaRPr lang="en-US" altLang="zh-CN" sz="2000" dirty="0"/>
          </a:p>
          <a:p>
            <a:pPr lvl="1"/>
            <a:r>
              <a:rPr lang="en-US" altLang="zh-CN" sz="2000" dirty="0"/>
              <a:t>POC is </a:t>
            </a:r>
            <a:r>
              <a:rPr lang="zh-CN" altLang="zh-CN" sz="2000" dirty="0"/>
              <a:t>required to clamp the IO into a known state (typically high-Z) until the core supply is stable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38953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1F86E77E-41C5-044E-9A66-DF5EB6E75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197" y="1056934"/>
            <a:ext cx="5681683" cy="435133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196E39F-2090-9556-12A0-AED1B6E0C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POC Test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E2C62F-08F9-C92E-B60B-C435820EA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How to test high-Z:</a:t>
            </a:r>
          </a:p>
          <a:p>
            <a:pPr lvl="1"/>
            <a:r>
              <a:rPr lang="en-US" altLang="zh-CN" dirty="0"/>
              <a:t>Connect IO to 1.65V with 1M resistor</a:t>
            </a:r>
          </a:p>
          <a:p>
            <a:pPr lvl="1"/>
            <a:r>
              <a:rPr lang="en-US" altLang="zh-CN" dirty="0"/>
              <a:t>If pad is high-Z, </a:t>
            </a:r>
          </a:p>
          <a:p>
            <a:pPr marL="457200" lvl="1" indent="0">
              <a:buNone/>
            </a:pPr>
            <a:r>
              <a:rPr lang="en-US" altLang="zh-CN" dirty="0"/>
              <a:t>   	it’ll be clamped at 1.65V</a:t>
            </a:r>
          </a:p>
          <a:p>
            <a:pPr lvl="1"/>
            <a:r>
              <a:rPr lang="en-US" altLang="zh-CN" dirty="0"/>
              <a:t>If pad is controlled by the core,</a:t>
            </a:r>
          </a:p>
          <a:p>
            <a:pPr marL="457200" lvl="1" indent="0">
              <a:buNone/>
            </a:pPr>
            <a:r>
              <a:rPr lang="en-US" altLang="zh-CN" dirty="0"/>
              <a:t>  	it’ll be either near 3.3V / 0V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748417C-C483-DA7D-7AB4-20BF8DF39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86" y="4387373"/>
            <a:ext cx="5781541" cy="235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53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内容占位符 4">
            <a:extLst>
              <a:ext uri="{FF2B5EF4-FFF2-40B4-BE49-F238E27FC236}">
                <a16:creationId xmlns:a16="http://schemas.microsoft.com/office/drawing/2014/main" id="{DD75E624-40B4-36D6-4A7B-2CDDAA1E2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533"/>
            <a:ext cx="12188589" cy="636196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D05B40E-7F93-86C3-B7FF-6C521FB5F01A}"/>
              </a:ext>
            </a:extLst>
          </p:cNvPr>
          <p:cNvSpPr txBox="1"/>
          <p:nvPr/>
        </p:nvSpPr>
        <p:spPr>
          <a:xfrm>
            <a:off x="7045235" y="3152001"/>
            <a:ext cx="1415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2">
                    <a:lumMod val="75000"/>
                  </a:schemeClr>
                </a:solidFill>
              </a:rPr>
              <a:t>50us late for VDD</a:t>
            </a:r>
            <a:endParaRPr lang="zh-CN" alt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1C7641-8C36-9170-BFE3-4F5F7D1D8C4B}"/>
              </a:ext>
            </a:extLst>
          </p:cNvPr>
          <p:cNvSpPr txBox="1"/>
          <p:nvPr/>
        </p:nvSpPr>
        <p:spPr>
          <a:xfrm>
            <a:off x="9074331" y="1580606"/>
            <a:ext cx="944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</a:rPr>
              <a:t>POC cutoff</a:t>
            </a:r>
            <a:endParaRPr lang="zh-CN" altLang="en-US" sz="1200" dirty="0">
              <a:solidFill>
                <a:srgbClr val="7030A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E681E7-FAFF-74BB-861E-98201CB6515B}"/>
              </a:ext>
            </a:extLst>
          </p:cNvPr>
          <p:cNvSpPr txBox="1"/>
          <p:nvPr/>
        </p:nvSpPr>
        <p:spPr>
          <a:xfrm>
            <a:off x="9689373" y="2899956"/>
            <a:ext cx="1963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</a:rPr>
              <a:t>PAD is controlled by core</a:t>
            </a:r>
            <a:endParaRPr lang="zh-CN" altLang="en-US" sz="1200" dirty="0">
              <a:solidFill>
                <a:srgbClr val="7030A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1D54C1-AA33-2D73-27AF-273C423F9D1E}"/>
              </a:ext>
            </a:extLst>
          </p:cNvPr>
          <p:cNvSpPr txBox="1"/>
          <p:nvPr/>
        </p:nvSpPr>
        <p:spPr>
          <a:xfrm>
            <a:off x="7515497" y="2622957"/>
            <a:ext cx="944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</a:rPr>
              <a:t>POC on</a:t>
            </a:r>
            <a:endParaRPr lang="zh-CN" altLang="en-US" sz="1200" dirty="0">
              <a:solidFill>
                <a:srgbClr val="7030A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3FFC02-E5FC-7920-FD10-95E25E1F6E0A}"/>
              </a:ext>
            </a:extLst>
          </p:cNvPr>
          <p:cNvSpPr txBox="1"/>
          <p:nvPr/>
        </p:nvSpPr>
        <p:spPr>
          <a:xfrm>
            <a:off x="10117182" y="3488371"/>
            <a:ext cx="1301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</a:rPr>
              <a:t>ssn</a:t>
            </a:r>
            <a:r>
              <a:rPr lang="en-US" altLang="zh-CN" sz="1200" dirty="0">
                <a:solidFill>
                  <a:srgbClr val="7030A0"/>
                </a:solidFill>
              </a:rPr>
              <a:t> </a:t>
            </a:r>
            <a:r>
              <a:rPr lang="en-US" altLang="zh-CN" sz="1200" dirty="0">
                <a:solidFill>
                  <a:schemeClr val="accent2">
                    <a:lumMod val="75000"/>
                  </a:schemeClr>
                </a:solidFill>
              </a:rPr>
              <a:t>rst_n</a:t>
            </a:r>
            <a:r>
              <a:rPr lang="en-US" altLang="zh-CN" sz="1200" dirty="0">
                <a:solidFill>
                  <a:srgbClr val="7030A0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high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BA2441-B562-35D3-2399-CB619346ED37}"/>
              </a:ext>
            </a:extLst>
          </p:cNvPr>
          <p:cNvSpPr txBox="1"/>
          <p:nvPr/>
        </p:nvSpPr>
        <p:spPr>
          <a:xfrm>
            <a:off x="10117181" y="5875528"/>
            <a:ext cx="1301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70C0"/>
                </a:solidFill>
              </a:rPr>
              <a:t>sck</a:t>
            </a:r>
            <a:r>
              <a:rPr lang="en-US" altLang="zh-CN" sz="1200" dirty="0">
                <a:solidFill>
                  <a:srgbClr val="7030A0"/>
                </a:solidFill>
              </a:rPr>
              <a:t> mosi </a:t>
            </a:r>
            <a:r>
              <a:rPr lang="en-US" altLang="zh-CN" sz="1200" dirty="0">
                <a:solidFill>
                  <a:schemeClr val="bg1"/>
                </a:solidFill>
              </a:rPr>
              <a:t>low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748D51D-4C59-86AC-9E21-9C8FD40485A3}"/>
              </a:ext>
            </a:extLst>
          </p:cNvPr>
          <p:cNvSpPr txBox="1"/>
          <p:nvPr/>
        </p:nvSpPr>
        <p:spPr>
          <a:xfrm>
            <a:off x="10117180" y="4678793"/>
            <a:ext cx="1301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00"/>
                </a:solidFill>
              </a:rPr>
              <a:t>miso </a:t>
            </a:r>
            <a:r>
              <a:rPr lang="en-US" altLang="zh-CN" sz="1200" dirty="0">
                <a:solidFill>
                  <a:schemeClr val="bg1"/>
                </a:solidFill>
              </a:rPr>
              <a:t>high-Z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A7F7D5-CE9C-022A-4F6A-177EE8159727}"/>
              </a:ext>
            </a:extLst>
          </p:cNvPr>
          <p:cNvSpPr txBox="1"/>
          <p:nvPr/>
        </p:nvSpPr>
        <p:spPr>
          <a:xfrm>
            <a:off x="8031480" y="4671286"/>
            <a:ext cx="1415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Controlled by POC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26AD3F-18D1-6580-F6F1-5661BF1399FA}"/>
              </a:ext>
            </a:extLst>
          </p:cNvPr>
          <p:cNvSpPr txBox="1"/>
          <p:nvPr/>
        </p:nvSpPr>
        <p:spPr>
          <a:xfrm>
            <a:off x="2908664" y="1003886"/>
            <a:ext cx="1021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00"/>
                </a:solidFill>
              </a:rPr>
              <a:t>POC cutoff</a:t>
            </a:r>
          </a:p>
          <a:p>
            <a:r>
              <a:rPr lang="en-US" altLang="zh-CN" sz="1200" dirty="0">
                <a:solidFill>
                  <a:srgbClr val="FFFF00"/>
                </a:solidFill>
              </a:rPr>
              <a:t>State switch</a:t>
            </a:r>
            <a:endParaRPr lang="zh-CN" altLang="en-US" sz="1200" dirty="0">
              <a:solidFill>
                <a:srgbClr val="FFFF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0600A0F-A124-155E-E8D8-7C2926213227}"/>
              </a:ext>
            </a:extLst>
          </p:cNvPr>
          <p:cNvSpPr txBox="1"/>
          <p:nvPr/>
        </p:nvSpPr>
        <p:spPr>
          <a:xfrm>
            <a:off x="3369672" y="2669124"/>
            <a:ext cx="193275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FFFF00"/>
                </a:solidFill>
              </a:rPr>
              <a:t>VDD is not large enough to turn off </a:t>
            </a:r>
          </a:p>
          <a:p>
            <a:r>
              <a:rPr lang="en-US" altLang="zh-CN" sz="900" dirty="0">
                <a:solidFill>
                  <a:srgbClr val="FFFF00"/>
                </a:solidFill>
              </a:rPr>
              <a:t>VDDPST-PMOS-NMOS-GND</a:t>
            </a:r>
          </a:p>
          <a:p>
            <a:r>
              <a:rPr lang="en-US" altLang="zh-CN" sz="900" dirty="0">
                <a:solidFill>
                  <a:srgbClr val="FFFF00"/>
                </a:solidFill>
              </a:rPr>
              <a:t>Current rises</a:t>
            </a:r>
            <a:endParaRPr lang="zh-CN" altLang="en-US" sz="900" dirty="0">
              <a:solidFill>
                <a:srgbClr val="FFFF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477461-268E-997E-7141-0816E2591EA2}"/>
              </a:ext>
            </a:extLst>
          </p:cNvPr>
          <p:cNvSpPr txBox="1"/>
          <p:nvPr/>
        </p:nvSpPr>
        <p:spPr>
          <a:xfrm>
            <a:off x="3369672" y="3834233"/>
            <a:ext cx="1380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00"/>
                </a:solidFill>
              </a:rPr>
              <a:t>Level shifter on</a:t>
            </a:r>
          </a:p>
          <a:p>
            <a:r>
              <a:rPr lang="en-US" altLang="zh-CN" sz="1200" dirty="0">
                <a:solidFill>
                  <a:srgbClr val="FFFF00"/>
                </a:solidFill>
              </a:rPr>
              <a:t>Current off</a:t>
            </a:r>
            <a:endParaRPr lang="zh-CN" altLang="en-US" sz="1200" dirty="0">
              <a:solidFill>
                <a:srgbClr val="FFFF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630992C-6D38-A6D7-6B83-871EA26A12C4}"/>
              </a:ext>
            </a:extLst>
          </p:cNvPr>
          <p:cNvSpPr txBox="1"/>
          <p:nvPr/>
        </p:nvSpPr>
        <p:spPr>
          <a:xfrm>
            <a:off x="3369672" y="4530916"/>
            <a:ext cx="1380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Level shifter on Switching current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940F8AF-29B6-B47A-BCFF-1487F97680F7}"/>
              </a:ext>
            </a:extLst>
          </p:cNvPr>
          <p:cNvSpPr txBox="1"/>
          <p:nvPr/>
        </p:nvSpPr>
        <p:spPr>
          <a:xfrm>
            <a:off x="649903" y="52700"/>
            <a:ext cx="4517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POC Test    @ </a:t>
            </a:r>
            <a:r>
              <a:rPr lang="sv-SE" altLang="zh-CN" sz="2400" dirty="0">
                <a:solidFill>
                  <a:schemeClr val="bg1"/>
                </a:solidFill>
              </a:rPr>
              <a:t>tt/1.8V/3.3V/27°C</a:t>
            </a:r>
          </a:p>
        </p:txBody>
      </p:sp>
    </p:spTree>
    <p:extLst>
      <p:ext uri="{BB962C8B-B14F-4D97-AF65-F5344CB8AC3E}">
        <p14:creationId xmlns:p14="http://schemas.microsoft.com/office/powerpoint/2010/main" val="1012791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049C743-D0A7-4916-2873-871E13C92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649" y="3537653"/>
            <a:ext cx="6758341" cy="323663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780D274-D2DA-E21B-75D1-135BF2ED8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Critical Timings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7828E3-9973-5CCA-6F89-B0B22A4A9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</a:t>
            </a:r>
            <a:r>
              <a:rPr lang="en-US" altLang="zh-CN" baseline="-25000" dirty="0"/>
              <a:t>EN</a:t>
            </a:r>
            <a:r>
              <a:rPr lang="en-US" altLang="zh-CN" dirty="0"/>
              <a:t>: Output enable time </a:t>
            </a:r>
            <a:endParaRPr lang="en-US" altLang="zh-CN" baseline="-25000" dirty="0"/>
          </a:p>
          <a:p>
            <a:pPr lvl="1"/>
            <a:r>
              <a:rPr lang="zh-CN" altLang="zh-CN" dirty="0"/>
              <a:t>Maximum </a:t>
            </a:r>
            <a:r>
              <a:rPr lang="en-US" altLang="zh-CN" dirty="0"/>
              <a:t>d</a:t>
            </a:r>
            <a:r>
              <a:rPr lang="zh-CN" altLang="zh-CN" dirty="0"/>
              <a:t>elay from the falling edge of </a:t>
            </a:r>
            <a:r>
              <a:rPr lang="en-US" altLang="zh-CN" dirty="0"/>
              <a:t>ssn</a:t>
            </a:r>
            <a:r>
              <a:rPr lang="zh-CN" altLang="zh-CN" dirty="0"/>
              <a:t> until </a:t>
            </a:r>
            <a:r>
              <a:rPr lang="en-US" altLang="zh-CN" dirty="0"/>
              <a:t>miso</a:t>
            </a:r>
            <a:r>
              <a:rPr lang="zh-CN" altLang="zh-CN" dirty="0"/>
              <a:t> leaves the high-</a:t>
            </a:r>
            <a:r>
              <a:rPr lang="en-US" altLang="zh-CN" dirty="0"/>
              <a:t>Z</a:t>
            </a:r>
            <a:r>
              <a:rPr lang="zh-CN" altLang="zh-CN" dirty="0"/>
              <a:t> state and is actively driven</a:t>
            </a:r>
            <a:endParaRPr lang="en-US" altLang="zh-CN" dirty="0"/>
          </a:p>
          <a:p>
            <a:pPr lvl="1"/>
            <a:r>
              <a:rPr lang="en-US" altLang="zh-CN" dirty="0"/>
              <a:t>M</a:t>
            </a:r>
            <a:r>
              <a:rPr lang="zh-CN" altLang="zh-CN" dirty="0"/>
              <a:t>easured from the 50% point of the </a:t>
            </a:r>
            <a:r>
              <a:rPr lang="en-US" altLang="zh-CN" dirty="0"/>
              <a:t>ssn</a:t>
            </a:r>
            <a:r>
              <a:rPr lang="zh-CN" altLang="zh-CN" dirty="0"/>
              <a:t> waveform to the 50% point of the </a:t>
            </a:r>
            <a:r>
              <a:rPr lang="en-US" altLang="zh-CN" dirty="0"/>
              <a:t>miso</a:t>
            </a:r>
            <a:r>
              <a:rPr lang="zh-CN" altLang="zh-CN" dirty="0"/>
              <a:t> waveform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4842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B052995-E915-6ADC-9FCB-CA49B857FE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1087976"/>
            <a:ext cx="10827554" cy="565155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27A04A6-A622-C8E9-4836-049D9D3096D3}"/>
              </a:ext>
            </a:extLst>
          </p:cNvPr>
          <p:cNvSpPr txBox="1"/>
          <p:nvPr/>
        </p:nvSpPr>
        <p:spPr>
          <a:xfrm>
            <a:off x="408648" y="330765"/>
            <a:ext cx="7177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t</a:t>
            </a:r>
            <a:r>
              <a:rPr lang="en-US" altLang="zh-CN" sz="2400" baseline="-25000" dirty="0">
                <a:solidFill>
                  <a:schemeClr val="bg1"/>
                </a:solidFill>
              </a:rPr>
              <a:t>EN</a:t>
            </a:r>
            <a:r>
              <a:rPr lang="en-US" altLang="zh-CN" sz="2400" dirty="0">
                <a:solidFill>
                  <a:schemeClr val="bg1"/>
                </a:solidFill>
              </a:rPr>
              <a:t> = 6.02ns    @ ss/1.62V/3.0V/125</a:t>
            </a:r>
            <a:r>
              <a:rPr lang="zh-CN" altLang="en-US" sz="2400" dirty="0">
                <a:solidFill>
                  <a:schemeClr val="bg1"/>
                </a:solidFill>
              </a:rPr>
              <a:t>℃</a:t>
            </a:r>
            <a:r>
              <a:rPr lang="en-US" altLang="zh-CN" sz="2400" dirty="0">
                <a:solidFill>
                  <a:schemeClr val="bg1"/>
                </a:solidFill>
              </a:rPr>
              <a:t>, C</a:t>
            </a:r>
            <a:r>
              <a:rPr lang="en-US" altLang="zh-CN" sz="2400" baseline="-25000" dirty="0">
                <a:solidFill>
                  <a:schemeClr val="bg1"/>
                </a:solidFill>
              </a:rPr>
              <a:t>L</a:t>
            </a:r>
            <a:r>
              <a:rPr lang="en-US" altLang="zh-CN" sz="2400" dirty="0">
                <a:solidFill>
                  <a:schemeClr val="bg1"/>
                </a:solidFill>
              </a:rPr>
              <a:t>=20pF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171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057DD-3FF3-995D-EC28-0ED19989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Critical Timings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41130F-599A-D378-05DA-06012ADCF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</a:t>
            </a:r>
            <a:r>
              <a:rPr lang="en-US" altLang="zh-CN" baseline="-25000" dirty="0"/>
              <a:t>DIS</a:t>
            </a:r>
            <a:r>
              <a:rPr lang="en-US" altLang="zh-CN" dirty="0"/>
              <a:t>: </a:t>
            </a:r>
            <a:r>
              <a:rPr lang="zh-CN" altLang="zh-CN" dirty="0"/>
              <a:t>Output disable time</a:t>
            </a:r>
            <a:endParaRPr lang="en-US" altLang="zh-CN" dirty="0"/>
          </a:p>
          <a:p>
            <a:pPr lvl="1"/>
            <a:r>
              <a:rPr lang="zh-CN" altLang="zh-CN" dirty="0"/>
              <a:t>Maximum delay from the rising edge of </a:t>
            </a:r>
            <a:r>
              <a:rPr lang="en-US" altLang="zh-CN" dirty="0"/>
              <a:t>ssn</a:t>
            </a:r>
            <a:r>
              <a:rPr lang="zh-CN" altLang="zh-CN" dirty="0"/>
              <a:t> until </a:t>
            </a:r>
            <a:r>
              <a:rPr lang="en-US" altLang="zh-CN" dirty="0"/>
              <a:t>miso</a:t>
            </a:r>
            <a:r>
              <a:rPr lang="zh-CN" altLang="zh-CN" dirty="0"/>
              <a:t> returns to the high-</a:t>
            </a:r>
            <a:r>
              <a:rPr lang="en-US" altLang="zh-CN" dirty="0"/>
              <a:t>Z</a:t>
            </a:r>
            <a:r>
              <a:rPr lang="zh-CN" altLang="zh-CN" dirty="0"/>
              <a:t> state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Measured the current from stable to approximately 0</a:t>
            </a:r>
          </a:p>
          <a:p>
            <a:pPr lvl="2"/>
            <a:r>
              <a:rPr lang="en-US" altLang="zh-CN" dirty="0"/>
              <a:t>Time for miso</a:t>
            </a:r>
            <a:r>
              <a:rPr lang="zh-CN" altLang="zh-CN" dirty="0"/>
              <a:t> </a:t>
            </a:r>
            <a:r>
              <a:rPr lang="en-US" altLang="zh-CN" dirty="0"/>
              <a:t>to </a:t>
            </a:r>
            <a:r>
              <a:rPr lang="zh-CN" altLang="zh-CN" dirty="0"/>
              <a:t>return</a:t>
            </a:r>
            <a:r>
              <a:rPr lang="en-US" altLang="zh-CN" dirty="0"/>
              <a:t> to </a:t>
            </a:r>
            <a:r>
              <a:rPr lang="zh-CN" altLang="zh-CN" dirty="0"/>
              <a:t>high-</a:t>
            </a:r>
            <a:r>
              <a:rPr lang="en-US" altLang="zh-CN" dirty="0"/>
              <a:t>Z</a:t>
            </a:r>
            <a:r>
              <a:rPr lang="zh-CN" altLang="zh-CN" dirty="0"/>
              <a:t> </a:t>
            </a:r>
            <a:r>
              <a:rPr lang="en-US" altLang="zh-CN" dirty="0"/>
              <a:t>voltage is determined by the external R and C</a:t>
            </a:r>
            <a:r>
              <a:rPr lang="en-US" altLang="zh-CN" baseline="-25000" dirty="0"/>
              <a:t>L</a:t>
            </a:r>
            <a:endParaRPr lang="zh-CN" altLang="en-US" baseline="-250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76EC838-0231-5433-8CE0-D3210B4E7403}"/>
              </a:ext>
            </a:extLst>
          </p:cNvPr>
          <p:cNvGrpSpPr/>
          <p:nvPr/>
        </p:nvGrpSpPr>
        <p:grpSpPr>
          <a:xfrm>
            <a:off x="1484108" y="3893076"/>
            <a:ext cx="3800031" cy="2784620"/>
            <a:chOff x="994715" y="3893076"/>
            <a:chExt cx="3800031" cy="278462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73CAFF5-93D4-A337-F122-62CA4FA9D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4715" y="3893076"/>
              <a:ext cx="3800031" cy="278462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4DB2339-FB72-46AE-EFB5-52E046A4ED3B}"/>
                </a:ext>
              </a:extLst>
            </p:cNvPr>
            <p:cNvSpPr txBox="1"/>
            <p:nvPr/>
          </p:nvSpPr>
          <p:spPr>
            <a:xfrm>
              <a:off x="994715" y="4126387"/>
              <a:ext cx="1391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4">
                      <a:lumMod val="75000"/>
                    </a:schemeClr>
                  </a:solidFill>
                </a:rPr>
                <a:t>miso active</a:t>
              </a:r>
              <a:endParaRPr lang="zh-CN" alt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1" name="箭头: 直角上 10">
              <a:extLst>
                <a:ext uri="{FF2B5EF4-FFF2-40B4-BE49-F238E27FC236}">
                  <a16:creationId xmlns:a16="http://schemas.microsoft.com/office/drawing/2014/main" id="{4154CC05-715F-E512-7255-0A102CB90ABB}"/>
                </a:ext>
              </a:extLst>
            </p:cNvPr>
            <p:cNvSpPr/>
            <p:nvPr/>
          </p:nvSpPr>
          <p:spPr>
            <a:xfrm rot="5400000" flipV="1">
              <a:off x="2333375" y="4188115"/>
              <a:ext cx="757600" cy="753291"/>
            </a:xfrm>
            <a:prstGeom prst="bentUpArrow">
              <a:avLst>
                <a:gd name="adj1" fmla="val 14884"/>
                <a:gd name="adj2" fmla="val 15787"/>
                <a:gd name="adj3" fmla="val 2500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BDAB512-244A-970E-0D64-73768BDDBFC1}"/>
                </a:ext>
              </a:extLst>
            </p:cNvPr>
            <p:cNvSpPr txBox="1"/>
            <p:nvPr/>
          </p:nvSpPr>
          <p:spPr>
            <a:xfrm>
              <a:off x="2225287" y="4326442"/>
              <a:ext cx="9737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current</a:t>
              </a:r>
              <a:endPara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FA8E39B-BDBD-E508-E866-841D9625B64C}"/>
              </a:ext>
            </a:extLst>
          </p:cNvPr>
          <p:cNvGrpSpPr/>
          <p:nvPr/>
        </p:nvGrpSpPr>
        <p:grpSpPr>
          <a:xfrm>
            <a:off x="6287665" y="3893076"/>
            <a:ext cx="3836186" cy="2784620"/>
            <a:chOff x="6931609" y="3893076"/>
            <a:chExt cx="3836186" cy="278462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ADF48BA-B916-B360-DA75-E0A54454B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31609" y="3893076"/>
              <a:ext cx="3836186" cy="2784620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956803-0938-494F-D0E8-38046539C3DE}"/>
                </a:ext>
              </a:extLst>
            </p:cNvPr>
            <p:cNvSpPr txBox="1"/>
            <p:nvPr/>
          </p:nvSpPr>
          <p:spPr>
            <a:xfrm>
              <a:off x="6931609" y="4126387"/>
              <a:ext cx="1391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4">
                      <a:lumMod val="75000"/>
                    </a:schemeClr>
                  </a:solidFill>
                </a:rPr>
                <a:t>miso high-Z</a:t>
              </a:r>
              <a:endParaRPr lang="zh-CN" alt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6" name="箭头: 下 15">
              <a:extLst>
                <a:ext uri="{FF2B5EF4-FFF2-40B4-BE49-F238E27FC236}">
                  <a16:creationId xmlns:a16="http://schemas.microsoft.com/office/drawing/2014/main" id="{83F9594D-18DE-1645-114A-4E06EACB5079}"/>
                </a:ext>
              </a:extLst>
            </p:cNvPr>
            <p:cNvSpPr/>
            <p:nvPr/>
          </p:nvSpPr>
          <p:spPr>
            <a:xfrm>
              <a:off x="9239793" y="4782457"/>
              <a:ext cx="227149" cy="709386"/>
            </a:xfrm>
            <a:prstGeom prst="down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9222320-0C03-5EDF-A859-8EBDCD40C9D0}"/>
                </a:ext>
              </a:extLst>
            </p:cNvPr>
            <p:cNvSpPr txBox="1"/>
            <p:nvPr/>
          </p:nvSpPr>
          <p:spPr>
            <a:xfrm>
              <a:off x="9353367" y="5007059"/>
              <a:ext cx="9737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current</a:t>
              </a:r>
              <a:endPara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2030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E1E1527-4D97-3AE8-B83D-18FE81491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088595"/>
            <a:ext cx="10755086" cy="561373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E9C3404-B5AA-0AA2-5F93-6E0C7C62A5BB}"/>
              </a:ext>
            </a:extLst>
          </p:cNvPr>
          <p:cNvSpPr txBox="1"/>
          <p:nvPr/>
        </p:nvSpPr>
        <p:spPr>
          <a:xfrm>
            <a:off x="408648" y="330765"/>
            <a:ext cx="7177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t</a:t>
            </a:r>
            <a:r>
              <a:rPr lang="en-US" altLang="zh-CN" sz="2400" baseline="-25000" dirty="0">
                <a:solidFill>
                  <a:schemeClr val="bg1"/>
                </a:solidFill>
              </a:rPr>
              <a:t>DIS</a:t>
            </a:r>
            <a:r>
              <a:rPr lang="en-US" altLang="zh-CN" sz="2400" dirty="0">
                <a:solidFill>
                  <a:schemeClr val="bg1"/>
                </a:solidFill>
              </a:rPr>
              <a:t> = 2.64ns    @ ss/1.62V/3.0V/125</a:t>
            </a:r>
            <a:r>
              <a:rPr lang="zh-CN" altLang="en-US" sz="2400" dirty="0">
                <a:solidFill>
                  <a:schemeClr val="bg1"/>
                </a:solidFill>
              </a:rPr>
              <a:t>℃</a:t>
            </a:r>
            <a:r>
              <a:rPr lang="en-US" altLang="zh-CN" sz="2400" dirty="0">
                <a:solidFill>
                  <a:schemeClr val="bg1"/>
                </a:solidFill>
              </a:rPr>
              <a:t>, C</a:t>
            </a:r>
            <a:r>
              <a:rPr lang="en-US" altLang="zh-CN" sz="2400" baseline="-25000" dirty="0">
                <a:solidFill>
                  <a:schemeClr val="bg1"/>
                </a:solidFill>
              </a:rPr>
              <a:t>L</a:t>
            </a:r>
            <a:r>
              <a:rPr lang="en-US" altLang="zh-CN" sz="2400" dirty="0">
                <a:solidFill>
                  <a:schemeClr val="bg1"/>
                </a:solidFill>
              </a:rPr>
              <a:t>=20pF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263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44EDC-8E4F-2BB2-4FBC-E54AF3DA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Critical Timings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DD1E02-6DE0-0821-6B67-40D4F713C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</a:t>
            </a:r>
            <a:r>
              <a:rPr lang="en-US" altLang="zh-CN" baseline="-25000" dirty="0"/>
              <a:t>V</a:t>
            </a:r>
            <a:r>
              <a:rPr lang="en-US" altLang="zh-CN" dirty="0"/>
              <a:t>: </a:t>
            </a:r>
            <a:r>
              <a:rPr lang="zh-CN" altLang="zh-CN" dirty="0"/>
              <a:t>Data output valid time</a:t>
            </a:r>
            <a:endParaRPr lang="en-US" altLang="zh-CN" dirty="0"/>
          </a:p>
          <a:p>
            <a:pPr lvl="1"/>
            <a:r>
              <a:rPr lang="zh-CN" altLang="zh-CN" dirty="0"/>
              <a:t>Maximum delay from the falling edge of </a:t>
            </a:r>
            <a:r>
              <a:rPr lang="en-US" altLang="zh-CN" dirty="0"/>
              <a:t>sck</a:t>
            </a:r>
            <a:r>
              <a:rPr lang="zh-CN" altLang="zh-CN" dirty="0"/>
              <a:t> to </a:t>
            </a:r>
            <a:r>
              <a:rPr lang="en-US" altLang="zh-CN" dirty="0"/>
              <a:t>miso</a:t>
            </a:r>
            <a:r>
              <a:rPr lang="zh-CN" altLang="zh-CN" dirty="0"/>
              <a:t> becoming valid</a:t>
            </a:r>
            <a:endParaRPr lang="en-US" altLang="zh-CN" dirty="0"/>
          </a:p>
          <a:p>
            <a:pPr lvl="1"/>
            <a:r>
              <a:rPr lang="en-US" altLang="zh-CN" dirty="0"/>
              <a:t>M</a:t>
            </a:r>
            <a:r>
              <a:rPr lang="zh-CN" altLang="zh-CN" dirty="0"/>
              <a:t>easured from the 50% point of the </a:t>
            </a:r>
            <a:r>
              <a:rPr lang="en-US" altLang="zh-CN" dirty="0"/>
              <a:t>sck</a:t>
            </a:r>
            <a:r>
              <a:rPr lang="zh-CN" altLang="zh-CN" dirty="0"/>
              <a:t> waveform to the 50% point of the </a:t>
            </a:r>
            <a:r>
              <a:rPr lang="en-US" altLang="zh-CN" dirty="0"/>
              <a:t>miso</a:t>
            </a:r>
            <a:r>
              <a:rPr lang="zh-CN" altLang="zh-CN" dirty="0"/>
              <a:t> waveform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D97058-C278-7F03-246D-738C85589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541" y="3542682"/>
            <a:ext cx="9224284" cy="316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12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EBA527D-C1F6-7B9C-42D9-22F687079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40" y="1001558"/>
            <a:ext cx="11084373" cy="57856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4C36DD0-35F2-1FBB-6312-A097FBE1F8A9}"/>
              </a:ext>
            </a:extLst>
          </p:cNvPr>
          <p:cNvSpPr txBox="1"/>
          <p:nvPr/>
        </p:nvSpPr>
        <p:spPr>
          <a:xfrm>
            <a:off x="408648" y="330765"/>
            <a:ext cx="7177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t</a:t>
            </a:r>
            <a:r>
              <a:rPr lang="en-US" altLang="zh-CN" sz="2400" baseline="-25000" dirty="0">
                <a:solidFill>
                  <a:schemeClr val="bg1"/>
                </a:solidFill>
              </a:rPr>
              <a:t>V</a:t>
            </a:r>
            <a:r>
              <a:rPr lang="en-US" altLang="zh-CN" sz="2400" dirty="0">
                <a:solidFill>
                  <a:schemeClr val="bg1"/>
                </a:solidFill>
              </a:rPr>
              <a:t> = 6.26ns    @ ss/1.62V/3.0V/125</a:t>
            </a:r>
            <a:r>
              <a:rPr lang="zh-CN" altLang="en-US" sz="2400" dirty="0">
                <a:solidFill>
                  <a:schemeClr val="bg1"/>
                </a:solidFill>
              </a:rPr>
              <a:t>℃</a:t>
            </a:r>
            <a:r>
              <a:rPr lang="en-US" altLang="zh-CN" sz="2400" dirty="0">
                <a:solidFill>
                  <a:schemeClr val="bg1"/>
                </a:solidFill>
              </a:rPr>
              <a:t>, C</a:t>
            </a:r>
            <a:r>
              <a:rPr lang="en-US" altLang="zh-CN" sz="2400" baseline="-25000" dirty="0">
                <a:solidFill>
                  <a:schemeClr val="bg1"/>
                </a:solidFill>
              </a:rPr>
              <a:t>L</a:t>
            </a:r>
            <a:r>
              <a:rPr lang="en-US" altLang="zh-CN" sz="2400" dirty="0">
                <a:solidFill>
                  <a:schemeClr val="bg1"/>
                </a:solidFill>
              </a:rPr>
              <a:t>=20pF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548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FFBFCD-95E8-0CCF-B6F8-78A0CE625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AMS Simulation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BCE630-824E-4063-834A-056A8A668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Write an SPI Master in SystemVerilog</a:t>
            </a:r>
          </a:p>
          <a:p>
            <a:r>
              <a:rPr lang="en-US" altLang="zh-CN" dirty="0"/>
              <a:t>Connect to SPI Slave</a:t>
            </a:r>
          </a:p>
          <a:p>
            <a:r>
              <a:rPr lang="en-US" altLang="zh-CN" dirty="0"/>
              <a:t>Run AMS to check the transfer waveforms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AB6F96-DFCA-C1F9-CCF9-64A7D66ED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61" y="3429000"/>
            <a:ext cx="9595590" cy="328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61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5076506-967D-3D29-F027-F604B5248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5" y="875145"/>
            <a:ext cx="11289558" cy="589270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8DD7ED-DBDA-04CF-DCE8-05EF21B072AC}"/>
              </a:ext>
            </a:extLst>
          </p:cNvPr>
          <p:cNvSpPr txBox="1"/>
          <p:nvPr/>
        </p:nvSpPr>
        <p:spPr>
          <a:xfrm>
            <a:off x="408647" y="330765"/>
            <a:ext cx="9160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AMS Simulation Passed    @ ss/1.62V/3.0V/125</a:t>
            </a:r>
            <a:r>
              <a:rPr lang="zh-CN" altLang="en-US" sz="2400" dirty="0">
                <a:solidFill>
                  <a:schemeClr val="bg1"/>
                </a:solidFill>
              </a:rPr>
              <a:t>℃</a:t>
            </a:r>
            <a:r>
              <a:rPr lang="en-US" altLang="zh-CN" sz="2400" dirty="0">
                <a:solidFill>
                  <a:schemeClr val="bg1"/>
                </a:solidFill>
              </a:rPr>
              <a:t>, C</a:t>
            </a:r>
            <a:r>
              <a:rPr lang="en-US" altLang="zh-CN" sz="2400" baseline="-25000" dirty="0">
                <a:solidFill>
                  <a:schemeClr val="bg1"/>
                </a:solidFill>
              </a:rPr>
              <a:t>L</a:t>
            </a:r>
            <a:r>
              <a:rPr lang="en-US" altLang="zh-CN" sz="2400" dirty="0">
                <a:solidFill>
                  <a:schemeClr val="bg1"/>
                </a:solidFill>
              </a:rPr>
              <a:t>=20pF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8834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53D26A-E1A4-1488-51E5-CC540F5B7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ELECTRICAL CHARACTERISTICS </a:t>
            </a:r>
            <a:endParaRPr lang="zh-CN" altLang="en-US" b="1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60C2A97-D1DF-6C65-1AEE-8B5D72BFC6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3715393"/>
              </p:ext>
            </p:extLst>
          </p:nvPr>
        </p:nvGraphicFramePr>
        <p:xfrm>
          <a:off x="838200" y="1825625"/>
          <a:ext cx="10515596" cy="469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4057716517"/>
                    </a:ext>
                  </a:extLst>
                </a:gridCol>
                <a:gridCol w="1091792">
                  <a:extLst>
                    <a:ext uri="{9D8B030D-6E8A-4147-A177-3AD203B41FA5}">
                      <a16:colId xmlns:a16="http://schemas.microsoft.com/office/drawing/2014/main" val="3244217320"/>
                    </a:ext>
                  </a:extLst>
                </a:gridCol>
                <a:gridCol w="1964028">
                  <a:extLst>
                    <a:ext uri="{9D8B030D-6E8A-4147-A177-3AD203B41FA5}">
                      <a16:colId xmlns:a16="http://schemas.microsoft.com/office/drawing/2014/main" val="3862627500"/>
                    </a:ext>
                  </a:extLst>
                </a:gridCol>
                <a:gridCol w="1450864">
                  <a:extLst>
                    <a:ext uri="{9D8B030D-6E8A-4147-A177-3AD203B41FA5}">
                      <a16:colId xmlns:a16="http://schemas.microsoft.com/office/drawing/2014/main" val="394181225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10550405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8599026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30657075"/>
                    </a:ext>
                  </a:extLst>
                </a:gridCol>
              </a:tblGrid>
              <a:tr h="3200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zh-CN" sz="1200" dirty="0"/>
                        <a:t>PARAMETER</a:t>
                      </a:r>
                      <a:endParaRPr lang="zh-CN" altLang="en-US" sz="12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zh-CN" sz="1200" dirty="0"/>
                        <a:t>SYMBOL</a:t>
                      </a:r>
                      <a:endParaRPr lang="zh-CN" altLang="en-US" sz="12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zh-CN" sz="1200" dirty="0"/>
                        <a:t>D</a:t>
                      </a:r>
                      <a:r>
                        <a:rPr lang="en-US" altLang="zh-CN" sz="1200" dirty="0"/>
                        <a:t>ESCRIPTION</a:t>
                      </a:r>
                      <a:endParaRPr lang="zh-CN" altLang="en-US" sz="12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SPEC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zh-CN" sz="1200" dirty="0"/>
                        <a:t>UNIT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7808999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MIN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TYP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MAX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484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IO Supply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VDDPST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3.0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3.3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3.6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88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Core Supply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VDD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1.62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1.8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1.98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62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Power-on Current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I</a:t>
                      </a:r>
                      <a:r>
                        <a:rPr lang="en-US" altLang="zh-CN" sz="1200" baseline="-25000" dirty="0"/>
                        <a:t>pk</a:t>
                      </a:r>
                      <a:endParaRPr lang="zh-CN" altLang="en-US" sz="12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mA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03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200" dirty="0"/>
                        <a:t>Load Capacitance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</a:t>
                      </a:r>
                      <a:r>
                        <a:rPr lang="en-US" altLang="zh-CN" sz="1200" baseline="-25000" dirty="0"/>
                        <a:t>L</a:t>
                      </a:r>
                      <a:endParaRPr lang="zh-CN" altLang="en-US" sz="12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pF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943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Clock Period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</a:t>
                      </a:r>
                      <a:r>
                        <a:rPr lang="en-US" altLang="zh-CN" sz="1200" baseline="-25000" dirty="0"/>
                        <a:t>SCK</a:t>
                      </a:r>
                      <a:endParaRPr lang="zh-CN" altLang="en-US" sz="12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799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ssn Setup/Hold Time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t</a:t>
                      </a:r>
                      <a:r>
                        <a:rPr lang="en-US" altLang="zh-CN" sz="1200" baseline="-25000" dirty="0"/>
                        <a:t>SSH</a:t>
                      </a:r>
                      <a:endParaRPr lang="zh-CN" altLang="en-US" sz="1200" baseline="-25000" dirty="0"/>
                    </a:p>
                    <a:p>
                      <a:pPr algn="ctr"/>
                      <a:r>
                        <a:rPr lang="en-US" altLang="zh-CN" sz="1200" dirty="0"/>
                        <a:t>/t</a:t>
                      </a:r>
                      <a:r>
                        <a:rPr lang="en-US" altLang="zh-CN" sz="1200" baseline="-25000" dirty="0"/>
                        <a:t>SSN</a:t>
                      </a:r>
                      <a:endParaRPr lang="zh-CN" altLang="en-US" sz="12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Innovus STA &amp; </a:t>
                      </a:r>
                    </a:p>
                    <a:p>
                      <a:pPr algn="ctr"/>
                      <a:r>
                        <a:rPr lang="en-US" altLang="zh-CN" sz="1200" dirty="0"/>
                        <a:t>testbench verified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661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Minimum ssn </a:t>
                      </a:r>
                    </a:p>
                    <a:p>
                      <a:pPr algn="ctr"/>
                      <a:r>
                        <a:rPr lang="en-US" altLang="zh-CN" sz="1200" dirty="0"/>
                        <a:t>High Time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</a:t>
                      </a:r>
                      <a:r>
                        <a:rPr lang="en-US" altLang="zh-CN" sz="1200" baseline="-25000" dirty="0"/>
                        <a:t>IDLE</a:t>
                      </a:r>
                      <a:endParaRPr lang="zh-CN" altLang="en-US" sz="12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Innovus STA &amp; </a:t>
                      </a:r>
                    </a:p>
                    <a:p>
                      <a:pPr algn="ctr"/>
                      <a:r>
                        <a:rPr lang="en-US" altLang="zh-CN" sz="1200" dirty="0"/>
                        <a:t>testbench verified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421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Output Enable Time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</a:t>
                      </a:r>
                      <a:r>
                        <a:rPr lang="en-US" altLang="zh-CN" sz="1200" baseline="-25000" dirty="0"/>
                        <a:t>EN</a:t>
                      </a:r>
                      <a:endParaRPr lang="zh-CN" altLang="en-US" sz="12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ss/1.62V/3.0V/125℃, 20pF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48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Output Disable Time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</a:t>
                      </a:r>
                      <a:r>
                        <a:rPr lang="en-US" altLang="zh-CN" sz="1200" baseline="-25000" dirty="0"/>
                        <a:t>DIS</a:t>
                      </a:r>
                      <a:endParaRPr lang="zh-CN" altLang="en-US" sz="12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ss/1.62V/3.0V/125℃, 20pF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29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200" dirty="0"/>
                        <a:t>Data </a:t>
                      </a:r>
                      <a:r>
                        <a:rPr lang="en-US" altLang="zh-CN" sz="1200" dirty="0"/>
                        <a:t>O</a:t>
                      </a:r>
                      <a:r>
                        <a:rPr lang="zh-CN" altLang="zh-CN" sz="1200" dirty="0"/>
                        <a:t>utput </a:t>
                      </a:r>
                      <a:endParaRPr lang="en-US" altLang="zh-CN" sz="1200" dirty="0"/>
                    </a:p>
                    <a:p>
                      <a:pPr algn="ctr"/>
                      <a:r>
                        <a:rPr lang="en-US" altLang="zh-CN" sz="1200" dirty="0"/>
                        <a:t>V</a:t>
                      </a:r>
                      <a:r>
                        <a:rPr lang="zh-CN" altLang="zh-CN" sz="1200" dirty="0"/>
                        <a:t>alid </a:t>
                      </a:r>
                      <a:r>
                        <a:rPr lang="en-US" altLang="zh-CN" sz="1200" dirty="0"/>
                        <a:t>T</a:t>
                      </a:r>
                      <a:r>
                        <a:rPr lang="zh-CN" altLang="zh-CN" sz="1200" dirty="0"/>
                        <a:t>ime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</a:t>
                      </a:r>
                      <a:r>
                        <a:rPr lang="en-US" altLang="zh-CN" sz="1200" baseline="-25000" dirty="0"/>
                        <a:t>V</a:t>
                      </a:r>
                      <a:endParaRPr lang="zh-CN" altLang="en-US" sz="12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ss/1.62V/3.0V/125℃, 20pF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646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896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6213EE-782D-A857-B988-ECE0DE61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MISC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2AD5D0-DC80-F4CD-DB47-1FF69B6E4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Resistor/Diode mismatches in IO library have all been fixed,</a:t>
            </a:r>
          </a:p>
          <a:p>
            <a:pPr marL="0" indent="0">
              <a:buNone/>
            </a:pPr>
            <a:r>
              <a:rPr lang="en-US" altLang="zh-CN" dirty="0"/>
              <a:t>   all IOs in the library are now available</a:t>
            </a:r>
          </a:p>
          <a:p>
            <a:r>
              <a:rPr lang="en-US" altLang="zh-CN" dirty="0"/>
              <a:t>All scripts are included in tsmc18/Digital/README</a:t>
            </a:r>
          </a:p>
          <a:p>
            <a:r>
              <a:rPr lang="en-US" altLang="zh-CN" dirty="0"/>
              <a:t>Check my smb_share to use the updated version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712E50-0901-7537-C228-505E33D3F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02" y="3947455"/>
            <a:ext cx="4048103" cy="28258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966C2EE-E6B9-498B-7D47-6B8C68BCC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909" y="3947455"/>
            <a:ext cx="4087902" cy="282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498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E16FF2-466B-FBA0-8142-DB7993CD1E99}"/>
              </a:ext>
            </a:extLst>
          </p:cNvPr>
          <p:cNvSpPr txBox="1"/>
          <p:nvPr/>
        </p:nvSpPr>
        <p:spPr>
          <a:xfrm>
            <a:off x="4832797" y="2413337"/>
            <a:ext cx="25264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latin typeface="+mj-lt"/>
              </a:rPr>
              <a:t>Thanks</a:t>
            </a:r>
            <a:r>
              <a:rPr lang="en-US" altLang="zh-CN" sz="4400" dirty="0"/>
              <a:t>!</a:t>
            </a:r>
            <a:endParaRPr lang="zh-CN" altLang="en-US" sz="4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DB3942-F9F1-D953-9C6E-679CE7AEB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42" y="3538469"/>
            <a:ext cx="2880000" cy="288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F13AF71-6986-3199-24BB-7AA3F6EDB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887" y="3757409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491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2334</Words>
  <Application>Microsoft Office PowerPoint</Application>
  <PresentationFormat>宽屏</PresentationFormat>
  <Paragraphs>279</Paragraphs>
  <Slides>31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5" baseType="lpstr">
      <vt:lpstr>等线</vt:lpstr>
      <vt:lpstr>等线 Light</vt:lpstr>
      <vt:lpstr>Arial</vt:lpstr>
      <vt:lpstr>Office 主题​​</vt:lpstr>
      <vt:lpstr>SPI Slave Design</vt:lpstr>
      <vt:lpstr>Overview</vt:lpstr>
      <vt:lpstr>Front-end Design</vt:lpstr>
      <vt:lpstr>RTL Simulation</vt:lpstr>
      <vt:lpstr>Coverage Report</vt:lpstr>
      <vt:lpstr>Waveforms of Transfers</vt:lpstr>
      <vt:lpstr>Back-end Design</vt:lpstr>
      <vt:lpstr>DC &amp; FM</vt:lpstr>
      <vt:lpstr>Innovus</vt:lpstr>
      <vt:lpstr>Innovus</vt:lpstr>
      <vt:lpstr>Innovus</vt:lpstr>
      <vt:lpstr>IO Plan</vt:lpstr>
      <vt:lpstr>IO Plan</vt:lpstr>
      <vt:lpstr>Virtuoso Layout</vt:lpstr>
      <vt:lpstr>Virtuoso Layout</vt:lpstr>
      <vt:lpstr>LVS &amp; DRC</vt:lpstr>
      <vt:lpstr>Gate-level Simulation</vt:lpstr>
      <vt:lpstr>Post-layout Simulation</vt:lpstr>
      <vt:lpstr>POC Test</vt:lpstr>
      <vt:lpstr>PowerPoint 演示文稿</vt:lpstr>
      <vt:lpstr>Critical Timings</vt:lpstr>
      <vt:lpstr>PowerPoint 演示文稿</vt:lpstr>
      <vt:lpstr>Critical Timings</vt:lpstr>
      <vt:lpstr>PowerPoint 演示文稿</vt:lpstr>
      <vt:lpstr>Critical Timings</vt:lpstr>
      <vt:lpstr>PowerPoint 演示文稿</vt:lpstr>
      <vt:lpstr>AMS Simulation</vt:lpstr>
      <vt:lpstr>PowerPoint 演示文稿</vt:lpstr>
      <vt:lpstr>ELECTRICAL CHARACTERISTICS </vt:lpstr>
      <vt:lpstr>MISC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Yang</dc:creator>
  <cp:lastModifiedBy>Eric Yang</cp:lastModifiedBy>
  <cp:revision>225</cp:revision>
  <cp:lastPrinted>2026-08-24T18:26:49Z</cp:lastPrinted>
  <dcterms:created xsi:type="dcterms:W3CDTF">2026-08-17T16:20:14Z</dcterms:created>
  <dcterms:modified xsi:type="dcterms:W3CDTF">2026-08-24T18:39:49Z</dcterms:modified>
</cp:coreProperties>
</file>